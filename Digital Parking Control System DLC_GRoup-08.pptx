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22" r:id="rId5"/>
    <p:sldId id="321" r:id="rId6"/>
    <p:sldId id="320" r:id="rId7"/>
    <p:sldId id="319" r:id="rId8"/>
    <p:sldId id="318" r:id="rId9"/>
    <p:sldId id="323" r:id="rId10"/>
    <p:sldId id="324" r:id="rId11"/>
    <p:sldId id="325" r:id="rId12"/>
    <p:sldId id="317" r:id="rId13"/>
    <p:sldId id="326" r:id="rId14"/>
    <p:sldId id="327" r:id="rId15"/>
    <p:sldId id="328" r:id="rId16"/>
    <p:sldId id="329" r:id="rId17"/>
    <p:sldId id="330" r:id="rId18"/>
    <p:sldId id="331" r:id="rId19"/>
    <p:sldId id="31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2" autoAdjust="0"/>
    <p:restoredTop sz="95388" autoAdjust="0"/>
  </p:normalViewPr>
  <p:slideViewPr>
    <p:cSldViewPr snapToGrid="0">
      <p:cViewPr varScale="1">
        <p:scale>
          <a:sx n="104" d="100"/>
          <a:sy n="104" d="100"/>
        </p:scale>
        <p:origin x="138" y="16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6/24/2025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8623090" cy="5253089"/>
          </a:xfrm>
        </p:spPr>
        <p:txBody>
          <a:bodyPr/>
          <a:lstStyle/>
          <a:p>
            <a:r>
              <a:rPr lang="en-US" dirty="0"/>
              <a:t>Digital Parking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2" y="356869"/>
            <a:ext cx="4640418" cy="540709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834550" y="737115"/>
            <a:ext cx="6418907" cy="5407091"/>
          </a:xfrm>
        </p:spPr>
        <p:txBody>
          <a:bodyPr/>
          <a:lstStyle/>
          <a:p>
            <a:pPr lvl="0"/>
            <a:r>
              <a:rPr lang="en-US" dirty="0"/>
              <a:t>Block Diagram and Flowchart Development</a:t>
            </a:r>
          </a:p>
          <a:p>
            <a:pPr lvl="0"/>
            <a:r>
              <a:rPr lang="en-US" dirty="0"/>
              <a:t>4-bit UP/DOWN Counter</a:t>
            </a:r>
          </a:p>
          <a:p>
            <a:pPr lvl="0"/>
            <a:r>
              <a:rPr lang="en-US" dirty="0"/>
              <a:t>Two 555 Timer Circuits</a:t>
            </a:r>
          </a:p>
          <a:p>
            <a:pPr lvl="0"/>
            <a:r>
              <a:rPr lang="en-US" dirty="0"/>
              <a:t>7-Segment Display Output</a:t>
            </a:r>
          </a:p>
          <a:p>
            <a:r>
              <a:rPr lang="en-US" dirty="0"/>
              <a:t>FSM (Finite State Machine)</a:t>
            </a:r>
          </a:p>
          <a:p>
            <a:r>
              <a:rPr lang="en-US" dirty="0"/>
              <a:t>Verilog HDL Code</a:t>
            </a:r>
          </a:p>
          <a:p>
            <a:r>
              <a:rPr lang="en-US" dirty="0"/>
              <a:t>Limitation &amp; Suggestion Sectio</a:t>
            </a:r>
          </a:p>
          <a:p>
            <a:pPr lvl="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189E19-405A-328F-D170-AAB8BA66E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604" y="1089264"/>
            <a:ext cx="6028455" cy="5486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4F460B-B89C-7F32-D03D-53375E070A7E}"/>
              </a:ext>
            </a:extLst>
          </p:cNvPr>
          <p:cNvSpPr/>
          <p:nvPr/>
        </p:nvSpPr>
        <p:spPr>
          <a:xfrm>
            <a:off x="1126836" y="1555700"/>
            <a:ext cx="4378036" cy="45535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FED67-075B-5841-1178-566814671375}"/>
              </a:ext>
            </a:extLst>
          </p:cNvPr>
          <p:cNvSpPr txBox="1"/>
          <p:nvPr/>
        </p:nvSpPr>
        <p:spPr>
          <a:xfrm>
            <a:off x="1450108" y="2419928"/>
            <a:ext cx="37314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block diagram shows a digital parking control system that uses entry and exit sensors connected to a 4-bit up/down counter to track the number of vehicles. The count is stored in a register and compared with a user-defined maximum capacity set via a keypad. Based on the result, the system displays either "SPACE AVAILABLE" (blinking) or "FULL" (steady) on a seven-segment display, using 555 timers. The system updates continuously with each vehicle movement.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E405D91-EDF1-BDC7-8FA0-DAC12B095022}"/>
              </a:ext>
            </a:extLst>
          </p:cNvPr>
          <p:cNvSpPr/>
          <p:nvPr/>
        </p:nvSpPr>
        <p:spPr>
          <a:xfrm>
            <a:off x="1700768" y="468431"/>
            <a:ext cx="2890982" cy="6551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4AB3CF-10EE-F92E-CF30-5357DA74F362}"/>
              </a:ext>
            </a:extLst>
          </p:cNvPr>
          <p:cNvSpPr txBox="1"/>
          <p:nvPr/>
        </p:nvSpPr>
        <p:spPr>
          <a:xfrm>
            <a:off x="2142834" y="611342"/>
            <a:ext cx="2346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BLOCK DIAGRAM</a:t>
            </a: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E33910FE-CF1B-3C32-7BC5-A34C19C45A8D}"/>
              </a:ext>
            </a:extLst>
          </p:cNvPr>
          <p:cNvSpPr/>
          <p:nvPr/>
        </p:nvSpPr>
        <p:spPr>
          <a:xfrm>
            <a:off x="10566400" y="140853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571501-7C96-C063-EEF4-9D56560718D8}"/>
              </a:ext>
            </a:extLst>
          </p:cNvPr>
          <p:cNvSpPr txBox="1"/>
          <p:nvPr/>
        </p:nvSpPr>
        <p:spPr>
          <a:xfrm>
            <a:off x="10640291" y="283765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-01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31F152A-A829-BD10-83D1-85DBB03FA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670" y="182301"/>
            <a:ext cx="4986960" cy="667569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EDD4AD-9E29-05DA-8D60-A713EF63F908}"/>
              </a:ext>
            </a:extLst>
          </p:cNvPr>
          <p:cNvSpPr/>
          <p:nvPr/>
        </p:nvSpPr>
        <p:spPr>
          <a:xfrm>
            <a:off x="1682885" y="1488332"/>
            <a:ext cx="4027251" cy="4630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341CD-5FBD-34D9-9DAE-CBC7C963BE7D}"/>
              </a:ext>
            </a:extLst>
          </p:cNvPr>
          <p:cNvSpPr txBox="1"/>
          <p:nvPr/>
        </p:nvSpPr>
        <p:spPr>
          <a:xfrm>
            <a:off x="2013527" y="2161309"/>
            <a:ext cx="336203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flowchart shows an automated car parking system that uses sensors to track vehicle entry and exit. It starts by initializing the car count to zero. When a vehicle is detected, the system increments or decrements the count accordingly. If the count reaches 11, it displays “full”; otherwise, it shows “space available.” The system then waits for the next input to update the status.</a:t>
            </a:r>
          </a:p>
        </p:txBody>
      </p:sp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194E74F6-D799-DCBC-52F9-64E79BEE42C6}"/>
              </a:ext>
            </a:extLst>
          </p:cNvPr>
          <p:cNvSpPr/>
          <p:nvPr/>
        </p:nvSpPr>
        <p:spPr>
          <a:xfrm>
            <a:off x="10597812" y="182301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17A48-9876-85C2-A1EE-26B576747341}"/>
              </a:ext>
            </a:extLst>
          </p:cNvPr>
          <p:cNvSpPr txBox="1"/>
          <p:nvPr/>
        </p:nvSpPr>
        <p:spPr>
          <a:xfrm>
            <a:off x="10671703" y="325213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-01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ZA" dirty="0"/>
              <a:t>4-bit UP/DOWN Counter</a:t>
            </a:r>
            <a:br>
              <a:rPr lang="en-ZA" dirty="0"/>
            </a:b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2D785F-17A9-01E5-D24D-568E0A08C5D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381119" y="1645469"/>
            <a:ext cx="2670279" cy="24690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BB83AE-281E-27DC-0E15-1A4AB3DFF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426" y="1645469"/>
            <a:ext cx="6858000" cy="5085508"/>
          </a:xfrm>
          <a:prstGeom prst="rect">
            <a:avLst/>
          </a:prstGeom>
        </p:spPr>
      </p:pic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10C56FD5-5198-A07E-7F90-F3110FBCF44C}"/>
              </a:ext>
            </a:extLst>
          </p:cNvPr>
          <p:cNvSpPr/>
          <p:nvPr/>
        </p:nvSpPr>
        <p:spPr>
          <a:xfrm>
            <a:off x="10508172" y="184261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D307F-44A5-A072-89A1-4F8C94104F08}"/>
              </a:ext>
            </a:extLst>
          </p:cNvPr>
          <p:cNvSpPr txBox="1"/>
          <p:nvPr/>
        </p:nvSpPr>
        <p:spPr>
          <a:xfrm>
            <a:off x="10595917" y="327172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-01</a:t>
            </a:r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3ACAEC-AD4D-0CB2-58ED-D58003E92C25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2065147" y="179428"/>
            <a:ext cx="7321931" cy="19265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82B13-B971-99C2-043F-10034A397E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6D6411-19A9-F911-D29C-EECFAF6DE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129" y="2893799"/>
            <a:ext cx="4938188" cy="3176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D9406B-1BC1-D880-706F-29FDD4357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636" y="2893799"/>
            <a:ext cx="5029636" cy="2755631"/>
          </a:xfrm>
          <a:prstGeom prst="rect">
            <a:avLst/>
          </a:prstGeom>
        </p:spPr>
      </p:pic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DF4D3044-2100-541B-9824-66E93BA89C66}"/>
              </a:ext>
            </a:extLst>
          </p:cNvPr>
          <p:cNvSpPr/>
          <p:nvPr/>
        </p:nvSpPr>
        <p:spPr>
          <a:xfrm>
            <a:off x="10446328" y="211074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0C92C-C656-5E03-CDFB-6E2EB13A4DC6}"/>
              </a:ext>
            </a:extLst>
          </p:cNvPr>
          <p:cNvSpPr txBox="1"/>
          <p:nvPr/>
        </p:nvSpPr>
        <p:spPr>
          <a:xfrm>
            <a:off x="10520219" y="353986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-01</a:t>
            </a:r>
          </a:p>
        </p:txBody>
      </p:sp>
    </p:spTree>
    <p:extLst>
      <p:ext uri="{BB962C8B-B14F-4D97-AF65-F5344CB8AC3E}">
        <p14:creationId xmlns:p14="http://schemas.microsoft.com/office/powerpoint/2010/main" val="231189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C72D9-DADC-A0F4-5F86-B5A13522B7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DA9F7-6EC2-762B-42FD-D7F71BD5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573" y="1756544"/>
            <a:ext cx="5303520" cy="307210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A3192F-7664-85D1-80C8-0CF692C278ED}"/>
              </a:ext>
            </a:extLst>
          </p:cNvPr>
          <p:cNvSpPr/>
          <p:nvPr/>
        </p:nvSpPr>
        <p:spPr>
          <a:xfrm>
            <a:off x="1708385" y="1567492"/>
            <a:ext cx="3954043" cy="34502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AA1EA-865D-8968-8213-61F1AD7F623D}"/>
              </a:ext>
            </a:extLst>
          </p:cNvPr>
          <p:cNvSpPr txBox="1"/>
          <p:nvPr/>
        </p:nvSpPr>
        <p:spPr>
          <a:xfrm>
            <a:off x="1856509" y="1976582"/>
            <a:ext cx="3648364" cy="264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Here, we need to use two 555 timer to show parking status “full” indicator uses a monostable mode to stay continuously ON when triggered for “ SPACE AVAILABLE “ , an astable mode is used to make the display blink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A9C4A909-4113-0351-9078-368206F6AE38}"/>
              </a:ext>
            </a:extLst>
          </p:cNvPr>
          <p:cNvSpPr/>
          <p:nvPr/>
        </p:nvSpPr>
        <p:spPr>
          <a:xfrm>
            <a:off x="10355275" y="115707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524527-C841-283A-F871-ECBB7D153078}"/>
              </a:ext>
            </a:extLst>
          </p:cNvPr>
          <p:cNvSpPr txBox="1"/>
          <p:nvPr/>
        </p:nvSpPr>
        <p:spPr>
          <a:xfrm>
            <a:off x="10429166" y="258619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-02</a:t>
            </a:r>
          </a:p>
        </p:txBody>
      </p:sp>
    </p:spTree>
    <p:extLst>
      <p:ext uri="{BB962C8B-B14F-4D97-AF65-F5344CB8AC3E}">
        <p14:creationId xmlns:p14="http://schemas.microsoft.com/office/powerpoint/2010/main" val="417252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BA6EEC-0169-AD62-4364-BD869E5E9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05" y="912252"/>
            <a:ext cx="5846571" cy="466384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5E56B-5CC0-1BBF-999D-4D04765DDB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A05B75-8DDE-6327-4D58-1A140ABD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036"/>
          <a:stretch>
            <a:fillRect/>
          </a:stretch>
        </p:blipFill>
        <p:spPr>
          <a:xfrm>
            <a:off x="6931946" y="912252"/>
            <a:ext cx="4542252" cy="34499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CD723F-B5B6-9C6D-4F39-D58B596FF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260" y="5788253"/>
            <a:ext cx="7041490" cy="670618"/>
          </a:xfrm>
          <a:prstGeom prst="rect">
            <a:avLst/>
          </a:prstGeom>
        </p:spPr>
      </p:pic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9544D035-971F-93B9-E119-C0FB21F09E58}"/>
              </a:ext>
            </a:extLst>
          </p:cNvPr>
          <p:cNvSpPr/>
          <p:nvPr/>
        </p:nvSpPr>
        <p:spPr>
          <a:xfrm>
            <a:off x="10355275" y="115707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07BF8A-0945-942A-9406-164031C672DB}"/>
              </a:ext>
            </a:extLst>
          </p:cNvPr>
          <p:cNvSpPr txBox="1"/>
          <p:nvPr/>
        </p:nvSpPr>
        <p:spPr>
          <a:xfrm>
            <a:off x="10429166" y="258619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-02</a:t>
            </a:r>
          </a:p>
        </p:txBody>
      </p:sp>
    </p:spTree>
    <p:extLst>
      <p:ext uri="{BB962C8B-B14F-4D97-AF65-F5344CB8AC3E}">
        <p14:creationId xmlns:p14="http://schemas.microsoft.com/office/powerpoint/2010/main" val="113921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808" y="262487"/>
            <a:ext cx="9150675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FSM (Finite State Machine)</a:t>
            </a:r>
            <a:br>
              <a:rPr lang="en-US" dirty="0"/>
            </a:br>
            <a:endParaRPr lang="en-ZA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1776A0E-C6A8-3C30-7E04-6E5DEB9B61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34D89-CC08-08AF-9C21-DC05E9AF0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808" y="1551028"/>
            <a:ext cx="6905625" cy="1162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5364F0-5D58-E995-B460-28DC24B2E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08" y="2898045"/>
            <a:ext cx="4141426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1B2639-3F0B-9E19-3AE4-7AB33DBBA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812" y="2897744"/>
            <a:ext cx="3371380" cy="34750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691FB6-246D-763B-DB16-27D2E95EC985}"/>
              </a:ext>
            </a:extLst>
          </p:cNvPr>
          <p:cNvSpPr txBox="1"/>
          <p:nvPr/>
        </p:nvSpPr>
        <p:spPr>
          <a:xfrm>
            <a:off x="8778063" y="2528412"/>
            <a:ext cx="1468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State chart</a:t>
            </a: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BD5F4B57-9DA6-2A41-356E-EAC90D9D87AC}"/>
              </a:ext>
            </a:extLst>
          </p:cNvPr>
          <p:cNvSpPr/>
          <p:nvPr/>
        </p:nvSpPr>
        <p:spPr>
          <a:xfrm>
            <a:off x="10355275" y="115707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A94A37-6C58-A292-FD8A-926B271FDFEF}"/>
              </a:ext>
            </a:extLst>
          </p:cNvPr>
          <p:cNvSpPr txBox="1"/>
          <p:nvPr/>
        </p:nvSpPr>
        <p:spPr>
          <a:xfrm>
            <a:off x="10429166" y="258619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-03</a:t>
            </a:r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C56ED-D171-3446-329D-0ADF7B21FE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1C6BF8-6D93-5980-D61A-A4ABDFFE832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468815" y="1647826"/>
            <a:ext cx="6743700" cy="2343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B43D73-DA5F-0F53-A5D5-2A1D6B760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815" y="4105274"/>
            <a:ext cx="4048125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9CDC98-594B-93FA-99A1-5EF81406E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815" y="5154100"/>
            <a:ext cx="4895512" cy="1579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C8AEC0-A0CE-371E-0BDC-9652D3929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327" y="4227428"/>
            <a:ext cx="5151566" cy="2505673"/>
          </a:xfrm>
          <a:prstGeom prst="rect">
            <a:avLst/>
          </a:prstGeom>
        </p:spPr>
      </p:pic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69E28F73-48EB-28E4-F89F-4A286D04C152}"/>
              </a:ext>
            </a:extLst>
          </p:cNvPr>
          <p:cNvSpPr/>
          <p:nvPr/>
        </p:nvSpPr>
        <p:spPr>
          <a:xfrm>
            <a:off x="10355275" y="115707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716F2-5B74-D3B0-0269-7D045109C5A9}"/>
              </a:ext>
            </a:extLst>
          </p:cNvPr>
          <p:cNvSpPr txBox="1"/>
          <p:nvPr/>
        </p:nvSpPr>
        <p:spPr>
          <a:xfrm>
            <a:off x="10429166" y="258619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-03</a:t>
            </a:r>
          </a:p>
        </p:txBody>
      </p:sp>
    </p:spTree>
    <p:extLst>
      <p:ext uri="{BB962C8B-B14F-4D97-AF65-F5344CB8AC3E}">
        <p14:creationId xmlns:p14="http://schemas.microsoft.com/office/powerpoint/2010/main" val="186064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FD8CEF-AB7B-0907-119F-9A4C658BE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27" y="333693"/>
            <a:ext cx="11248095" cy="41334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1B617-8576-BC11-46BB-E5B3A106BC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0EDC1-0127-97C8-01C8-F0C15509C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27" y="4467139"/>
            <a:ext cx="11064240" cy="1723024"/>
          </a:xfrm>
          <a:prstGeom prst="rect">
            <a:avLst/>
          </a:prstGeom>
        </p:spPr>
      </p:pic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BAAFA965-00E1-17A7-29CA-B324B9870046}"/>
              </a:ext>
            </a:extLst>
          </p:cNvPr>
          <p:cNvSpPr/>
          <p:nvPr/>
        </p:nvSpPr>
        <p:spPr>
          <a:xfrm>
            <a:off x="10483049" y="78761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61A18-461A-DF3D-7774-C89200944CB1}"/>
              </a:ext>
            </a:extLst>
          </p:cNvPr>
          <p:cNvSpPr txBox="1"/>
          <p:nvPr/>
        </p:nvSpPr>
        <p:spPr>
          <a:xfrm>
            <a:off x="10556940" y="221673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-03</a:t>
            </a:r>
          </a:p>
        </p:txBody>
      </p:sp>
    </p:spTree>
    <p:extLst>
      <p:ext uri="{BB962C8B-B14F-4D97-AF65-F5344CB8AC3E}">
        <p14:creationId xmlns:p14="http://schemas.microsoft.com/office/powerpoint/2010/main" val="1555648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5FA1-A914-25EA-1712-6567B6132A3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56574" y="905164"/>
            <a:ext cx="3675979" cy="54070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100" dirty="0"/>
              <a:t>Parking Capacity: The system operates with a fixed maximum limit of vehicles, as per the design and ID limit. It can hold (at most) 11 cars maximum. Basically, we assume it from a constant volume (length).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dirty="0"/>
              <a:t>Limited Counter Bit Width If the counter of the design is implemented using flip-flops, it can count up to a certain number of cars. If the number exceeds the range, an overflow may occur, leading to incorrect reading.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dirty="0"/>
              <a:t>The system relies entirely on two 555 timer for generating blinking signals and timing operation, which limits its flexibility.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dirty="0"/>
              <a:t>Entry and exit sensors may generate noisy or bouncing signals, which can result in multiple false triggers and incorrect count of vehicles.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100" dirty="0"/>
              <a:t>The design cannot be adjusted dynamically because the duty cycle and frequency of blinking are fixed by resistor and capacitor values in the astable mode 555 timer circuit.  </a:t>
            </a:r>
            <a:br>
              <a:rPr lang="en-US" sz="1100" dirty="0"/>
            </a:b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549A-7F36-FA20-462A-26471D4B3B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BB695-45F4-B857-3C29-614CCBF76899}"/>
              </a:ext>
            </a:extLst>
          </p:cNvPr>
          <p:cNvSpPr txBox="1"/>
          <p:nvPr/>
        </p:nvSpPr>
        <p:spPr>
          <a:xfrm>
            <a:off x="2043970" y="977260"/>
            <a:ext cx="211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Limitations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F735180-DFC9-707C-5A7A-AB43AFA39A5D}"/>
              </a:ext>
            </a:extLst>
          </p:cNvPr>
          <p:cNvCxnSpPr>
            <a:cxnSpLocks/>
          </p:cNvCxnSpPr>
          <p:nvPr/>
        </p:nvCxnSpPr>
        <p:spPr>
          <a:xfrm>
            <a:off x="5301673" y="905164"/>
            <a:ext cx="0" cy="463665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E4642D3-88D9-AF35-41C5-0BEB75FF5B1F}"/>
              </a:ext>
            </a:extLst>
          </p:cNvPr>
          <p:cNvSpPr txBox="1"/>
          <p:nvPr/>
        </p:nvSpPr>
        <p:spPr>
          <a:xfrm>
            <a:off x="5929747" y="905164"/>
            <a:ext cx="1727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Modifications </a:t>
            </a:r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D0E54C-76D7-33E1-8A40-1E18D8E2D903}"/>
              </a:ext>
            </a:extLst>
          </p:cNvPr>
          <p:cNvSpPr txBox="1"/>
          <p:nvPr/>
        </p:nvSpPr>
        <p:spPr>
          <a:xfrm>
            <a:off x="5523346" y="1551495"/>
            <a:ext cx="273396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Implement hardware or software-based debounce mechanisms to filter out false triggers caused by sensor signal noise.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Upgrade to LED or digital display that can show real-time availability of parking slots.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Replace fixed counter with programmable ones to allow counting for longer parking areas.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Add buttons for manual increment and decrement to adjust the count during maintenance or unexpected errors.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7ADCEA-0750-A079-506E-4C6B39F27A79}"/>
              </a:ext>
            </a:extLst>
          </p:cNvPr>
          <p:cNvCxnSpPr>
            <a:cxnSpLocks/>
          </p:cNvCxnSpPr>
          <p:nvPr/>
        </p:nvCxnSpPr>
        <p:spPr>
          <a:xfrm>
            <a:off x="8534400" y="905164"/>
            <a:ext cx="0" cy="483985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9D01BA5-7A67-46C9-9526-9BF1212C68B4}"/>
              </a:ext>
            </a:extLst>
          </p:cNvPr>
          <p:cNvSpPr txBox="1"/>
          <p:nvPr/>
        </p:nvSpPr>
        <p:spPr>
          <a:xfrm>
            <a:off x="9162474" y="905164"/>
            <a:ext cx="1782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Impact </a:t>
            </a:r>
            <a:br>
              <a:rPr lang="en-US" dirty="0"/>
            </a:b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582625-4460-7D05-D0B5-6470D47EC9E9}"/>
              </a:ext>
            </a:extLst>
          </p:cNvPr>
          <p:cNvSpPr txBox="1"/>
          <p:nvPr/>
        </p:nvSpPr>
        <p:spPr>
          <a:xfrm>
            <a:off x="8663711" y="1551495"/>
            <a:ext cx="2484581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Using more components in design may increase the power consumption.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Using digital hardware or software-based filtering mechanisms impacts on durability and scalability for the required system.</a:t>
            </a:r>
          </a:p>
          <a:p>
            <a:endParaRPr lang="en-US" sz="11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86FF3DD-E30A-4C0A-66C1-7EF517EF3857}"/>
              </a:ext>
            </a:extLst>
          </p:cNvPr>
          <p:cNvSpPr/>
          <p:nvPr/>
        </p:nvSpPr>
        <p:spPr>
          <a:xfrm>
            <a:off x="1018733" y="76161"/>
            <a:ext cx="2434771" cy="5457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4AE6B9-91F5-2B62-14A1-D0BEB643C90D}"/>
              </a:ext>
            </a:extLst>
          </p:cNvPr>
          <p:cNvSpPr txBox="1"/>
          <p:nvPr/>
        </p:nvSpPr>
        <p:spPr>
          <a:xfrm>
            <a:off x="1018733" y="169600"/>
            <a:ext cx="2475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MD.KAMRUL HASAN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Rectangle: Single Corner Snipped 24">
            <a:extLst>
              <a:ext uri="{FF2B5EF4-FFF2-40B4-BE49-F238E27FC236}">
                <a16:creationId xmlns:a16="http://schemas.microsoft.com/office/drawing/2014/main" id="{BC67A340-5104-F3BF-5896-EFD6A5A5A119}"/>
              </a:ext>
            </a:extLst>
          </p:cNvPr>
          <p:cNvSpPr/>
          <p:nvPr/>
        </p:nvSpPr>
        <p:spPr>
          <a:xfrm>
            <a:off x="10355275" y="115707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AFD5B3-316D-2E7C-68F9-0A8CF3C105AA}"/>
              </a:ext>
            </a:extLst>
          </p:cNvPr>
          <p:cNvSpPr txBox="1"/>
          <p:nvPr/>
        </p:nvSpPr>
        <p:spPr>
          <a:xfrm>
            <a:off x="10429166" y="258619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-04</a:t>
            </a:r>
          </a:p>
        </p:txBody>
      </p:sp>
    </p:spTree>
    <p:extLst>
      <p:ext uri="{BB962C8B-B14F-4D97-AF65-F5344CB8AC3E}">
        <p14:creationId xmlns:p14="http://schemas.microsoft.com/office/powerpoint/2010/main" val="2893867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0055A-1A92-E401-5622-CFA8BB21ADF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C873F-4DFF-BC9F-C34C-229919315035}"/>
              </a:ext>
            </a:extLst>
          </p:cNvPr>
          <p:cNvSpPr txBox="1"/>
          <p:nvPr/>
        </p:nvSpPr>
        <p:spPr>
          <a:xfrm>
            <a:off x="1997789" y="800960"/>
            <a:ext cx="211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Limitations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05F1A7-E169-5763-EF6F-4D937BBF617C}"/>
              </a:ext>
            </a:extLst>
          </p:cNvPr>
          <p:cNvCxnSpPr>
            <a:cxnSpLocks/>
          </p:cNvCxnSpPr>
          <p:nvPr/>
        </p:nvCxnSpPr>
        <p:spPr>
          <a:xfrm>
            <a:off x="4719783" y="905164"/>
            <a:ext cx="0" cy="463665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ADE0BEE-96AE-7820-9664-4BFC4E486F73}"/>
              </a:ext>
            </a:extLst>
          </p:cNvPr>
          <p:cNvSpPr txBox="1"/>
          <p:nvPr/>
        </p:nvSpPr>
        <p:spPr>
          <a:xfrm>
            <a:off x="5883566" y="847126"/>
            <a:ext cx="1727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Modifications 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2C2B1D-14D8-11E3-A5B3-0F4E83A78502}"/>
              </a:ext>
            </a:extLst>
          </p:cNvPr>
          <p:cNvSpPr txBox="1"/>
          <p:nvPr/>
        </p:nvSpPr>
        <p:spPr>
          <a:xfrm>
            <a:off x="4719783" y="1280786"/>
            <a:ext cx="3874933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Adopt Microcontrollers or FPGA Platforms Replacing 555 timers and basic flip-flops with microcontrollers (e.g., Arduino, STM32) or FPGAs allows dynamic configuration, precise timing, integrated counting, and flexible control of displays. This supports easy updates and future scalability.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Use Programmable Counters Implement counters in software or reprogrammable hardware, which can track hundreds of cars with minimal wiring. They also support overflow protection, resets, and integration with real-time clocks.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Implement Advanced Displays Use LCD/LED matrix displays to show exact available spots and even zone-wise allocation. Directional guidance can also be provided using arrow indicators.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Sensor Fusion &amp; Redundancy Combine data from multiple sensors (IR, ultrasonic) and apply validation logic to eliminate counting errors. For instance, double-confirm an entry or exit with two sensors to prevent faulty increments.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Add a Communication Interface Use wireless modules (Wi-Fi, GSM, or Bluetooth) to connect with a central server or mobile application. This enables remote monitoring, user notifications, and analytics for usage trends.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 Build an Administrator Dashboard Include a simple user interface (on web/mobile) for real-time system status, manual override, capacity update, and system diagnostics. This greatly improves usability and control.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EB253-87A7-FF44-B772-6C67BB4EF744}"/>
              </a:ext>
            </a:extLst>
          </p:cNvPr>
          <p:cNvSpPr txBox="1"/>
          <p:nvPr/>
        </p:nvSpPr>
        <p:spPr>
          <a:xfrm>
            <a:off x="9181224" y="847126"/>
            <a:ext cx="17826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Impact </a:t>
            </a: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24302-84B5-E018-F836-63945F7D181A}"/>
              </a:ext>
            </a:extLst>
          </p:cNvPr>
          <p:cNvSpPr txBox="1"/>
          <p:nvPr/>
        </p:nvSpPr>
        <p:spPr>
          <a:xfrm>
            <a:off x="8732705" y="1280786"/>
            <a:ext cx="295563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System Complexity Increases: As the number of parking spaces grows, maintaining a system based on discrete ICs and timers becomes impractical. PCB complexity, wiring errors, and power requirements rise exponentially.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Higher Resource Requirements: More memory, processing power, and I/O ports are needed to handle sensor inputs, display control, and communication tasks. Microcontroller-based designs can handle these efficiently.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Improved User Experience: With real-time data and guided parking, users can locate available spaces faster, reducing congestion and improving operational efficiency.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Maintainability and Upgradability: Software-based systems are easier to maintain and update, while hardware-only systems require redesign for every change. FPGA-based solutions offer the best balance between performance and flexibility.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7C948E-8EC8-01FC-B1ED-681EBD38EF18}"/>
              </a:ext>
            </a:extLst>
          </p:cNvPr>
          <p:cNvSpPr txBox="1"/>
          <p:nvPr/>
        </p:nvSpPr>
        <p:spPr>
          <a:xfrm>
            <a:off x="1043708" y="1280786"/>
            <a:ext cx="348210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Limited Functionality of the 555 Timer The 555 timers used in the display system cannot be enabled or disabled externally, as they lack an "enable" control input. This restricts real-time control over the display logic and complicates integration with programmable logic or sensors.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Basic Output Messages The system only toggles between two messages: “FULL” (constantly shown) and “SPACE AVAILABLE” (blinking). There is no real-time information such as exact available spots or guidance for drivers.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No Fault Detection or Handling Sensor errors (e.g., missed counts, double entries) are not accounted for. This can lead to inaccurate car counts, misleading display outputs, and potential overflows.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Poor Scalability with Logic Gates and Flip-Flops Using discrete components (e.g., flip-flops, gates) makes the system large and complex when scaled up. The addition of more parking spaces requires redesigning the entire counter and control logic.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/>
              <a:t>Lack of Real-Time Monitoring Interface Administrators have no way to monitor, reset, or update the system remotely. This makes it less practical for modern applications where centralized control and analytics are essential.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EFAE0E-FD97-62C0-68F7-55FAA4594D9A}"/>
              </a:ext>
            </a:extLst>
          </p:cNvPr>
          <p:cNvCxnSpPr>
            <a:cxnSpLocks/>
          </p:cNvCxnSpPr>
          <p:nvPr/>
        </p:nvCxnSpPr>
        <p:spPr>
          <a:xfrm>
            <a:off x="8663710" y="692727"/>
            <a:ext cx="1" cy="484909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306496-61D3-BFD7-4678-B8735CE3DD93}"/>
              </a:ext>
            </a:extLst>
          </p:cNvPr>
          <p:cNvSpPr/>
          <p:nvPr/>
        </p:nvSpPr>
        <p:spPr>
          <a:xfrm>
            <a:off x="1043708" y="110836"/>
            <a:ext cx="2382279" cy="5180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3B0314-E908-4E26-AD1C-8B18F53C5545}"/>
              </a:ext>
            </a:extLst>
          </p:cNvPr>
          <p:cNvSpPr txBox="1"/>
          <p:nvPr/>
        </p:nvSpPr>
        <p:spPr>
          <a:xfrm>
            <a:off x="1145309" y="221673"/>
            <a:ext cx="27291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UMME MAISHA ISRAT ZISA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DC8EBA2F-43BE-9708-2563-DF4A83792DA0}"/>
              </a:ext>
            </a:extLst>
          </p:cNvPr>
          <p:cNvSpPr/>
          <p:nvPr/>
        </p:nvSpPr>
        <p:spPr>
          <a:xfrm>
            <a:off x="10355275" y="115707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F0FD3D-0E8E-BC1F-6AA4-C032ED41C184}"/>
              </a:ext>
            </a:extLst>
          </p:cNvPr>
          <p:cNvSpPr txBox="1"/>
          <p:nvPr/>
        </p:nvSpPr>
        <p:spPr>
          <a:xfrm>
            <a:off x="10429166" y="258619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-04</a:t>
            </a:r>
          </a:p>
        </p:txBody>
      </p:sp>
    </p:spTree>
    <p:extLst>
      <p:ext uri="{BB962C8B-B14F-4D97-AF65-F5344CB8AC3E}">
        <p14:creationId xmlns:p14="http://schemas.microsoft.com/office/powerpoint/2010/main" val="3725347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A7B91-5F56-6EA9-13D4-A7FE38E684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DBBF3-25A4-2699-49B1-D289E26776E3}"/>
              </a:ext>
            </a:extLst>
          </p:cNvPr>
          <p:cNvSpPr txBox="1"/>
          <p:nvPr/>
        </p:nvSpPr>
        <p:spPr>
          <a:xfrm>
            <a:off x="1997789" y="800960"/>
            <a:ext cx="211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Limitations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7D3559-EF32-397D-E896-503DDDF127BE}"/>
              </a:ext>
            </a:extLst>
          </p:cNvPr>
          <p:cNvCxnSpPr>
            <a:cxnSpLocks/>
          </p:cNvCxnSpPr>
          <p:nvPr/>
        </p:nvCxnSpPr>
        <p:spPr>
          <a:xfrm>
            <a:off x="4719783" y="905164"/>
            <a:ext cx="0" cy="463665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DFAE8B-CB77-7D38-6F06-3CC33AB14CBF}"/>
              </a:ext>
            </a:extLst>
          </p:cNvPr>
          <p:cNvSpPr txBox="1"/>
          <p:nvPr/>
        </p:nvSpPr>
        <p:spPr>
          <a:xfrm>
            <a:off x="5883566" y="847126"/>
            <a:ext cx="1727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Modifications </a:t>
            </a: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CE658B-77E7-B281-A5C6-7A659FE2E0A3}"/>
              </a:ext>
            </a:extLst>
          </p:cNvPr>
          <p:cNvSpPr txBox="1"/>
          <p:nvPr/>
        </p:nvSpPr>
        <p:spPr>
          <a:xfrm>
            <a:off x="988291" y="1320800"/>
            <a:ext cx="3555995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u="sng" dirty="0"/>
              <a:t> No power Backup</a:t>
            </a:r>
            <a:r>
              <a:rPr lang="en-US" sz="1100" dirty="0"/>
              <a:t>: if the system restart (due to the power failure) the car count is lost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 </a:t>
            </a:r>
            <a:r>
              <a:rPr lang="en-US" sz="1100" u="sng" dirty="0"/>
              <a:t>Sensor Bounce and false Triggering</a:t>
            </a:r>
            <a:r>
              <a:rPr lang="en-US" sz="1100" dirty="0"/>
              <a:t> </a:t>
            </a:r>
          </a:p>
          <a:p>
            <a:pPr fontAlgn="base"/>
            <a:r>
              <a:rPr lang="en-US" sz="1100" dirty="0"/>
              <a:t>Entry / Exit Sensors may generate multiple </a:t>
            </a:r>
            <a:r>
              <a:rPr lang="en-US" sz="1100" dirty="0" err="1"/>
              <a:t>tramitions</a:t>
            </a:r>
            <a:r>
              <a:rPr lang="en-US" sz="1100" dirty="0"/>
              <a:t> This Can Count </a:t>
            </a:r>
          </a:p>
          <a:p>
            <a:pPr fontAlgn="base"/>
            <a:r>
              <a:rPr lang="en-US" sz="1100" dirty="0"/>
              <a:t>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u="sng" dirty="0"/>
              <a:t>Limited capacity (3 bit):</a:t>
            </a:r>
            <a:r>
              <a:rPr lang="en-US" sz="1100" dirty="0"/>
              <a:t> A 3 bit register Can store maximum at 9 cans (from my id) </a:t>
            </a:r>
          </a:p>
          <a:p>
            <a:pPr fontAlgn="base"/>
            <a:r>
              <a:rPr lang="en-US" sz="1100" dirty="0"/>
              <a:t>Not suitable for large parking garages. </a:t>
            </a:r>
          </a:p>
          <a:p>
            <a:pPr fontAlgn="base"/>
            <a:r>
              <a:rPr lang="en-US" sz="1100" dirty="0"/>
              <a:t>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u="sng" dirty="0"/>
              <a:t>555 timer limitations:</a:t>
            </a:r>
            <a:r>
              <a:rPr lang="en-US" sz="1100" dirty="0"/>
              <a:t> Astable 555 Can not be directly Frable/disabled via Agic input. </a:t>
            </a:r>
          </a:p>
          <a:p>
            <a:pPr fontAlgn="base"/>
            <a:r>
              <a:rPr lang="en-US" sz="1100" dirty="0"/>
              <a:t>monostable 555 can't hold indirectly needs continuous triggering or Logic override. </a:t>
            </a:r>
          </a:p>
          <a:p>
            <a:pPr fontAlgn="base"/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 </a:t>
            </a:r>
            <a:r>
              <a:rPr lang="en-US" sz="1100" u="sng" dirty="0"/>
              <a:t> No Display Jack mechanism:</a:t>
            </a:r>
            <a:r>
              <a:rPr lang="en-US" sz="1100" dirty="0"/>
              <a:t> The segment display may glitch during signal transition without latching  </a:t>
            </a:r>
          </a:p>
          <a:p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6F2A9-5574-337C-602C-FBC690E5E520}"/>
              </a:ext>
            </a:extLst>
          </p:cNvPr>
          <p:cNvSpPr txBox="1"/>
          <p:nvPr/>
        </p:nvSpPr>
        <p:spPr>
          <a:xfrm>
            <a:off x="5098473" y="1394691"/>
            <a:ext cx="311265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use non-volatile memory to store the can count 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 use a battery backed resister on microcontroller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 use up-to- isolated sensor for higher </a:t>
            </a:r>
            <a:r>
              <a:rPr lang="en-US" sz="1100" dirty="0" err="1"/>
              <a:t>rehability</a:t>
            </a:r>
            <a:r>
              <a:rPr lang="en-US" sz="1100" dirty="0"/>
              <a:t>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 Expand the counter to 8 bits (0-255) cars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use a BCD counter with Display decoder for direct  output to it segment display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Add a logic AND gate to enable/disable the timer output based on computer logic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use a D-type latch between the timer output and the 7  segment display. </a:t>
            </a:r>
          </a:p>
          <a:p>
            <a:pPr fontAlgn="base"/>
            <a:r>
              <a:rPr lang="en-US" sz="1100" dirty="0"/>
              <a:t> </a:t>
            </a:r>
          </a:p>
          <a:p>
            <a:pPr fontAlgn="base"/>
            <a:r>
              <a:rPr lang="en-US" sz="1100" dirty="0"/>
              <a:t>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Higher number at cam 235 (8 bit). </a:t>
            </a:r>
          </a:p>
          <a:p>
            <a:pPr fontAlgn="base"/>
            <a:r>
              <a:rPr lang="en-US" sz="1100" dirty="0"/>
              <a:t>Then change: </a:t>
            </a:r>
          </a:p>
          <a:p>
            <a:pPr fontAlgn="base"/>
            <a:r>
              <a:rPr lang="en-US" sz="1100" dirty="0"/>
              <a:t>(1) Encoder (8 bit)  </a:t>
            </a:r>
          </a:p>
          <a:p>
            <a:pPr fontAlgn="base"/>
            <a:r>
              <a:rPr lang="en-US" sz="1100" dirty="0"/>
              <a:t>(11) Counter (8 bit) </a:t>
            </a:r>
          </a:p>
          <a:p>
            <a:pPr fontAlgn="base"/>
            <a:r>
              <a:rPr lang="en-US" sz="1100" dirty="0"/>
              <a:t>(iii) Comparator (8 bit) </a:t>
            </a:r>
          </a:p>
          <a:p>
            <a:pPr fontAlgn="base"/>
            <a:r>
              <a:rPr lang="en-US" sz="1100" dirty="0"/>
              <a:t> </a:t>
            </a:r>
          </a:p>
          <a:p>
            <a:endParaRPr lang="en-US" sz="11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77E8A2-66B6-9DCC-EFAB-12337529392E}"/>
              </a:ext>
            </a:extLst>
          </p:cNvPr>
          <p:cNvSpPr/>
          <p:nvPr/>
        </p:nvSpPr>
        <p:spPr>
          <a:xfrm>
            <a:off x="988291" y="110836"/>
            <a:ext cx="2549236" cy="5396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AE70F8-EECB-AA09-B041-C2B42EC8E4A1}"/>
              </a:ext>
            </a:extLst>
          </p:cNvPr>
          <p:cNvSpPr txBox="1"/>
          <p:nvPr/>
        </p:nvSpPr>
        <p:spPr>
          <a:xfrm>
            <a:off x="1117600" y="212436"/>
            <a:ext cx="221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BASUDEB KUNDU</a:t>
            </a:r>
          </a:p>
        </p:txBody>
      </p:sp>
      <p:sp>
        <p:nvSpPr>
          <p:cNvPr id="21" name="Rectangle: Single Corner Snipped 20">
            <a:extLst>
              <a:ext uri="{FF2B5EF4-FFF2-40B4-BE49-F238E27FC236}">
                <a16:creationId xmlns:a16="http://schemas.microsoft.com/office/drawing/2014/main" id="{B87BDACF-4C64-040B-4DF6-9B795194981B}"/>
              </a:ext>
            </a:extLst>
          </p:cNvPr>
          <p:cNvSpPr/>
          <p:nvPr/>
        </p:nvSpPr>
        <p:spPr>
          <a:xfrm>
            <a:off x="10355275" y="115707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CE3D33-968B-5DA2-8C2F-F3F929124D6D}"/>
              </a:ext>
            </a:extLst>
          </p:cNvPr>
          <p:cNvSpPr txBox="1"/>
          <p:nvPr/>
        </p:nvSpPr>
        <p:spPr>
          <a:xfrm>
            <a:off x="10429166" y="258619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-04</a:t>
            </a:r>
          </a:p>
        </p:txBody>
      </p:sp>
    </p:spTree>
    <p:extLst>
      <p:ext uri="{BB962C8B-B14F-4D97-AF65-F5344CB8AC3E}">
        <p14:creationId xmlns:p14="http://schemas.microsoft.com/office/powerpoint/2010/main" val="3570357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F563A-BE7A-9B06-1FA8-BD52F9DF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429A6-A314-85FC-127E-38BB6B14DD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76C7C6-DF96-2AA6-EE0C-465BDE31C1D8}"/>
              </a:ext>
            </a:extLst>
          </p:cNvPr>
          <p:cNvSpPr txBox="1"/>
          <p:nvPr/>
        </p:nvSpPr>
        <p:spPr>
          <a:xfrm>
            <a:off x="1997789" y="800960"/>
            <a:ext cx="211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Limitations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51838E-5620-1FBB-2C62-79B5A5D9E134}"/>
              </a:ext>
            </a:extLst>
          </p:cNvPr>
          <p:cNvCxnSpPr>
            <a:cxnSpLocks/>
          </p:cNvCxnSpPr>
          <p:nvPr/>
        </p:nvCxnSpPr>
        <p:spPr>
          <a:xfrm>
            <a:off x="4719783" y="905164"/>
            <a:ext cx="0" cy="463665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20FD4E-D008-CD39-7FCF-3388BD93D9F4}"/>
              </a:ext>
            </a:extLst>
          </p:cNvPr>
          <p:cNvSpPr txBox="1"/>
          <p:nvPr/>
        </p:nvSpPr>
        <p:spPr>
          <a:xfrm>
            <a:off x="5883566" y="847126"/>
            <a:ext cx="1727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Modifications </a:t>
            </a: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95C47-294A-4BE6-9BE6-EDA080AB70D1}"/>
              </a:ext>
            </a:extLst>
          </p:cNvPr>
          <p:cNvSpPr txBox="1"/>
          <p:nvPr/>
        </p:nvSpPr>
        <p:spPr>
          <a:xfrm>
            <a:off x="988291" y="1320800"/>
            <a:ext cx="355599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No power backup: If  the system restart (due to the power failure the car counter is lost) </a:t>
            </a:r>
          </a:p>
          <a:p>
            <a:pPr fontAlgn="base"/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dirty="0"/>
              <a:t>Sensor bounce and false triggering: Entry/exit sensors may generate multiple .this can count </a:t>
            </a:r>
          </a:p>
          <a:p>
            <a:pPr fontAlgn="base"/>
            <a:endParaRPr lang="en-US" sz="1100" u="sng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u="sng" dirty="0"/>
              <a:t>Limited capacity (3 bit):</a:t>
            </a:r>
            <a:r>
              <a:rPr lang="en-US" sz="1100" dirty="0"/>
              <a:t> A 3 bit register Can store maximum at 9 cans (from my id)  </a:t>
            </a:r>
          </a:p>
          <a:p>
            <a:pPr fontAlgn="base"/>
            <a:endParaRPr lang="en-US" sz="11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100" u="sng" dirty="0"/>
              <a:t>555 timer limitations:</a:t>
            </a:r>
            <a:r>
              <a:rPr lang="en-US" sz="1100" dirty="0"/>
              <a:t> Astable 555 Can not be directly Frable/disabled via Agic input.  monostable 555 can't hold indirectly needs continuous triggering or Logic override.  </a:t>
            </a:r>
          </a:p>
          <a:p>
            <a:pPr fontAlgn="base"/>
            <a:r>
              <a:rPr lang="en-US" sz="1100" dirty="0"/>
              <a:t> </a:t>
            </a:r>
          </a:p>
          <a:p>
            <a:pPr fontAlgn="base"/>
            <a:r>
              <a:rPr lang="en-US" sz="1100" dirty="0"/>
              <a:t> </a:t>
            </a:r>
          </a:p>
          <a:p>
            <a:endParaRPr 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A079FA-0C98-6507-E826-44535479B05D}"/>
              </a:ext>
            </a:extLst>
          </p:cNvPr>
          <p:cNvSpPr txBox="1"/>
          <p:nvPr/>
        </p:nvSpPr>
        <p:spPr>
          <a:xfrm>
            <a:off x="5098473" y="1394691"/>
            <a:ext cx="311265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200" dirty="0"/>
              <a:t>use non-volatile memory to store the can count   </a:t>
            </a:r>
          </a:p>
          <a:p>
            <a:pPr fontAlgn="base"/>
            <a:r>
              <a:rPr lang="en-US" sz="1200" dirty="0"/>
              <a:t> 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200" dirty="0"/>
              <a:t>use a battery  </a:t>
            </a:r>
          </a:p>
          <a:p>
            <a:pPr fontAlgn="base"/>
            <a:r>
              <a:rPr lang="en-US" sz="1200" dirty="0"/>
              <a:t> 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200" dirty="0"/>
              <a:t>use up-to- isolated sensor   </a:t>
            </a:r>
          </a:p>
          <a:p>
            <a:pPr fontAlgn="base"/>
            <a:r>
              <a:rPr lang="en-US" sz="1200" dirty="0"/>
              <a:t>  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200" dirty="0"/>
              <a:t>Expand the counter to 8 bits </a:t>
            </a:r>
          </a:p>
          <a:p>
            <a:pPr fontAlgn="base"/>
            <a:r>
              <a:rPr lang="en-US" sz="1200" dirty="0"/>
              <a:t> 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200" dirty="0"/>
              <a:t> Add a logic AND gate  </a:t>
            </a:r>
          </a:p>
          <a:p>
            <a:pPr fontAlgn="base"/>
            <a:r>
              <a:rPr lang="en-US" sz="1200" dirty="0"/>
              <a:t> 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200" dirty="0"/>
              <a:t>use a D-type latch  </a:t>
            </a: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endParaRPr lang="en-US" sz="1200" dirty="0"/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200" dirty="0"/>
              <a:t>Higher number at cam 235 (8 bit).  </a:t>
            </a:r>
          </a:p>
          <a:p>
            <a:pPr fontAlgn="base"/>
            <a:r>
              <a:rPr lang="en-US" sz="1200" dirty="0"/>
              <a:t>Then change: </a:t>
            </a:r>
          </a:p>
          <a:p>
            <a:pPr marL="285750" indent="-285750" fontAlgn="base">
              <a:buFont typeface="+mj-lt"/>
              <a:buAutoNum type="romanLcPeriod"/>
            </a:pPr>
            <a:r>
              <a:rPr lang="en-US" sz="1200" dirty="0"/>
              <a:t>Encoder (8 bit)   </a:t>
            </a:r>
          </a:p>
          <a:p>
            <a:pPr marL="285750" indent="-285750" fontAlgn="base">
              <a:buFont typeface="+mj-lt"/>
              <a:buAutoNum type="romanLcPeriod"/>
            </a:pPr>
            <a:r>
              <a:rPr lang="en-US" sz="1200" dirty="0"/>
              <a:t>Counter (8 bit)  </a:t>
            </a:r>
          </a:p>
          <a:p>
            <a:pPr marL="285750" indent="-285750" fontAlgn="base">
              <a:buFont typeface="+mj-lt"/>
              <a:buAutoNum type="romanLcPeriod"/>
            </a:pPr>
            <a:r>
              <a:rPr lang="en-US" sz="1200" dirty="0"/>
              <a:t>Comparator (8 bit) </a:t>
            </a:r>
          </a:p>
          <a:p>
            <a:endParaRPr lang="en-US" sz="1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57ACFC-6E0A-344A-1B8A-037B4D98D660}"/>
              </a:ext>
            </a:extLst>
          </p:cNvPr>
          <p:cNvSpPr/>
          <p:nvPr/>
        </p:nvSpPr>
        <p:spPr>
          <a:xfrm>
            <a:off x="988291" y="110836"/>
            <a:ext cx="2549236" cy="5396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87D6AF-36BC-46DC-1C19-62C26807E0AF}"/>
              </a:ext>
            </a:extLst>
          </p:cNvPr>
          <p:cNvSpPr txBox="1"/>
          <p:nvPr/>
        </p:nvSpPr>
        <p:spPr>
          <a:xfrm>
            <a:off x="988291" y="-39672"/>
            <a:ext cx="291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MD.TAUHIDUL ISLAM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D79F623E-CD57-E9B3-ED79-F8F5538016DE}"/>
              </a:ext>
            </a:extLst>
          </p:cNvPr>
          <p:cNvSpPr/>
          <p:nvPr/>
        </p:nvSpPr>
        <p:spPr>
          <a:xfrm>
            <a:off x="10355275" y="115707"/>
            <a:ext cx="1477818" cy="655155"/>
          </a:xfrm>
          <a:prstGeom prst="snip1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132CB-9FF1-151E-6E20-36567762481C}"/>
              </a:ext>
            </a:extLst>
          </p:cNvPr>
          <p:cNvSpPr txBox="1"/>
          <p:nvPr/>
        </p:nvSpPr>
        <p:spPr>
          <a:xfrm>
            <a:off x="10429166" y="258619"/>
            <a:ext cx="117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TASK -04</a:t>
            </a:r>
          </a:p>
        </p:txBody>
      </p:sp>
    </p:spTree>
    <p:extLst>
      <p:ext uri="{BB962C8B-B14F-4D97-AF65-F5344CB8AC3E}">
        <p14:creationId xmlns:p14="http://schemas.microsoft.com/office/powerpoint/2010/main" val="795858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{0FFC02A8-218C-4304-8370-E76993C8D0D9}TF3977e381-cba5-49b1-ba43-b5d865517af9cf2dbabc_win32-857c3e7dba49</Template>
  <TotalTime>110</TotalTime>
  <Words>1549</Words>
  <Application>Microsoft Office PowerPoint</Application>
  <PresentationFormat>Widescreen</PresentationFormat>
  <Paragraphs>141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Tisa Offc Serif Pro</vt:lpstr>
      <vt:lpstr>Univers Light</vt:lpstr>
      <vt:lpstr>Wingdings</vt:lpstr>
      <vt:lpstr>Custom</vt:lpstr>
      <vt:lpstr>Digital Parking Control System</vt:lpstr>
      <vt:lpstr>Agenda</vt:lpstr>
      <vt:lpstr>PowerPoint Presentation</vt:lpstr>
      <vt:lpstr>PowerPoint Presentation</vt:lpstr>
      <vt:lpstr>4-bit UP/DOWN Counter </vt:lpstr>
      <vt:lpstr>PowerPoint Presentation</vt:lpstr>
      <vt:lpstr>PowerPoint Presentation</vt:lpstr>
      <vt:lpstr>PowerPoint Presentation</vt:lpstr>
      <vt:lpstr>FSM (Finite State Machine)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KAMRUL HASAN</dc:creator>
  <cp:lastModifiedBy>MD. KAMRUL HASAN</cp:lastModifiedBy>
  <cp:revision>2</cp:revision>
  <dcterms:created xsi:type="dcterms:W3CDTF">2025-06-23T16:41:22Z</dcterms:created>
  <dcterms:modified xsi:type="dcterms:W3CDTF">2025-06-24T07:14:30Z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