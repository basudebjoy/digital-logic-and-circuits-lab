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notesMasterIdLst>
    <p:notesMasterId r:id="rId12"/>
  </p:notesMasterIdLst>
  <p:sldIdLst>
    <p:sldId id="256" r:id="rId2"/>
    <p:sldId id="257" r:id="rId3"/>
    <p:sldId id="260" r:id="rId4"/>
    <p:sldId id="259" r:id="rId5"/>
    <p:sldId id="258" r:id="rId6"/>
    <p:sldId id="265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4" d="100"/>
          <a:sy n="94" d="100"/>
        </p:scale>
        <p:origin x="274" y="86"/>
      </p:cViewPr>
      <p:guideLst/>
    </p:cSldViewPr>
  </p:slideViewPr>
  <p:notesTextViewPr>
    <p:cViewPr>
      <p:scale>
        <a:sx n="50" d="100"/>
        <a:sy n="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9AE860-D2FF-4302-B5D4-F9844AAE0E82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F284B3-5676-439E-82DD-567FB813ED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677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F284B3-5676-439E-82DD-567FB813ED2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3793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F284B3-5676-439E-82DD-567FB813ED2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4730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674CB-3709-4ACF-BB61-29ADEA3D41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33272"/>
            <a:ext cx="9144000" cy="2478024"/>
          </a:xfrm>
        </p:spPr>
        <p:txBody>
          <a:bodyPr lIns="0" tIns="0" rIns="0" bIns="0" anchor="b">
            <a:noAutofit/>
          </a:bodyPr>
          <a:lstStyle>
            <a:lvl1pPr algn="ctr">
              <a:defRPr sz="4000" spc="7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6DA6BE-9B64-48FC-92D1-EF0D426A39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22192"/>
            <a:ext cx="9144000" cy="1435608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ct val="150000"/>
              </a:lnSpc>
              <a:buNone/>
              <a:defRPr sz="1600" cap="all" spc="6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3AE59-8E21-449F-86DA-5BE297010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A5808-3B61-48CC-92EF-85AC2E0DFA56}" type="datetime2">
              <a:rPr lang="en-US" smtClean="0"/>
              <a:t>Tuesday, May 27,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CCD60-9970-49FD-8254-21154BAA1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0A488-07A7-42F9-B1DF-68545B754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247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E0F35-0AE7-48AB-9005-F1DB4BD0B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D4022-C31F-4C4C-B5BF-5F9730C08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A45EE9-11D3-436C-9D73-1AA6CCDB1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AF3C6-0FD4-4939-991C-00DDE5C56815}" type="datetime2">
              <a:rPr lang="en-US" smtClean="0"/>
              <a:t>Tuesday, May 27,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817DCF-881F-4956-81AE-A6D27A88F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65F17-AD75-4B7E-970D-5D4DBD5D1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124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12CB-05D8-4D62-BDC5-812DB6DD0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709738"/>
            <a:ext cx="9966960" cy="2852737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400" spc="7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52F020-8516-4B9E-B455-5731ED6C9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4974336"/>
            <a:ext cx="9966961" cy="1115568"/>
          </a:xfrm>
        </p:spPr>
        <p:txBody>
          <a:bodyPr>
            <a:normAutofit/>
          </a:bodyPr>
          <a:lstStyle>
            <a:lvl1pPr marL="0" indent="0">
              <a:buNone/>
              <a:defRPr sz="1600" cap="all" spc="6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22993-6E28-44BB-B983-095B476B8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07482-8128-47C6-A8DD-6452B0291CFF}" type="datetime2">
              <a:rPr lang="en-US" smtClean="0"/>
              <a:t>Tuesday, May 27,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909971-06C9-462B-81D9-BEF24C708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9A076D-47C1-49CD-9A8B-956DB3FC3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019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8DFBD-F5ED-455C-8AD0-97476A55E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0E58C-F463-4D52-9225-9410133113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2112264"/>
            <a:ext cx="4846320" cy="3959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F7BDB4-97FA-485D-A557-6F96692BAC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66560" y="2112265"/>
            <a:ext cx="4846320" cy="39593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C50007-C799-4117-8ACD-5EE980E63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03F25-275E-41DE-BE3B-EBF0DB49F9B1}" type="datetime2">
              <a:rPr lang="en-US" smtClean="0"/>
              <a:t>Tuesday, May 27,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4E8968-6BAD-4D5A-BF1D-911C7A39C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9D8C08-BF20-4D5E-9004-0C075C36D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679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036E0D-26A5-455A-A8BD-70DA8BC03E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2112264"/>
            <a:ext cx="484107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FD4EA0-094D-4056-9032-BFB44B4089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71600" y="3018472"/>
            <a:ext cx="4841076" cy="31048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C0CCE8-718F-4620-8B4A-C60EEA7B88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66560" y="2112264"/>
            <a:ext cx="484632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CE86DF-0069-4D31-BDD3-A9A2F9B7B4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66560" y="3018471"/>
            <a:ext cx="4841076" cy="31048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A5ED06-FE54-4B86-A8D4-07D0EB08C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75572-4A44-4171-84AA-64D42C8050A6}" type="datetime2">
              <a:rPr lang="en-US" smtClean="0"/>
              <a:t>Tuesday, May 27, 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9EC6C3-0950-4AFE-936A-9AB5D2278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84B1D1-BE0C-48F4-BC74-90675A0F0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2D453288-3D76-40C1-BE00-223AB28F1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1385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B1716-24B0-42CD-95B6-843092597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E3617E-4B11-481F-AC6E-000317902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1612E-528E-4FD5-9E9E-E15F1108F171}" type="datetime2">
              <a:rPr lang="en-US" smtClean="0"/>
              <a:t>Tuesday, May 27, 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BF19CC-06D3-40E9-81B5-63B457B22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EFC312-3AA5-46F7-B701-3D9327A68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124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C9E28E-1389-47AF-B3EB-22571417A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6D862-A06D-436F-A92E-EBAAD50B6E50}" type="datetime2">
              <a:rPr lang="en-US" smtClean="0"/>
              <a:t>Tuesday, May 27, 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CF6B08-1984-4F7C-9F6E-A4F47BDBA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71B3C5-CEC7-427F-931C-1318C421B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32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EB55F-536E-4547-A5D2-0483FC368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987425"/>
            <a:ext cx="3932237" cy="1894511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17D3C-533B-4EA9-886B-FAE59956C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0992" y="987425"/>
            <a:ext cx="5687568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19D2E1-4B17-4608-961E-2C4719855E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1600" y="3058510"/>
            <a:ext cx="3932237" cy="28025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5A3535-184C-438C-AE91-9C42B7C5A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E0B7D-2260-4809-8F0A-9E5F3E24F169}" type="datetime2">
              <a:rPr lang="en-US" smtClean="0"/>
              <a:t>Tuesday, May 27,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F6DBC3-4A58-42BA-9B55-A9A725103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4E6563-0AB6-4038-A12B-A259552DB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731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702C5-1E3B-4C62-A538-59BB57286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987552"/>
            <a:ext cx="3932237" cy="1892808"/>
          </a:xfrm>
        </p:spPr>
        <p:txBody>
          <a:bodyPr anchor="b"/>
          <a:lstStyle>
            <a:lvl1pPr>
              <a:defRPr sz="3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2CF574-95CE-4E60-B2CF-3B5B4F33A7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05319" y="987425"/>
            <a:ext cx="5833242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039F7C-C735-4356-8B04-89E1904795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1600" y="3033286"/>
            <a:ext cx="3932237" cy="283570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E706DF-52A3-4F34-9BF5-E1ACD5D54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E4735-C637-46A3-94EB-AB3AC4188D2F}" type="datetime2">
              <a:rPr lang="en-US" smtClean="0"/>
              <a:t>Tuesday, May 27,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B25E53-E72E-4110-BB6B-3477F56C3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686F8F-3D62-4CEC-AD9A-B70848E6A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65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DC3B6-2D75-4EC4-9120-88DCE0EA6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4B06CB-A0FE-4499-B674-90C8C281A5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FD700-765A-4DE6-A8EC-9D9D92FCB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E98AF-4574-4509-BF7A-519ACD5BF826}" type="datetime2">
              <a:rPr lang="en-US" smtClean="0"/>
              <a:t>Tuesday, May 27,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4664EC-C4B1-4D14-9ED3-14C6CCBFF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DF5526-E518-4133-9F44-D812576C1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632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F62998-15B1-4CA8-8C60-7801001F80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838899"/>
            <a:ext cx="2628900" cy="48493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1AE278-0885-4594-AB09-120344C7D8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49235" y="838900"/>
            <a:ext cx="7723265" cy="48493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B850CC-FB43-4988-8D4E-9C54C2018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D97D4-9636-490F-85D0-E926C2B6F3B1}" type="datetime2">
              <a:rPr lang="en-US" smtClean="0"/>
              <a:t>Tuesday, May 27,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A70300-3853-4FB4-A084-CF6E5CF2B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DBAFB0-25AA-4B69-8418-418F47A92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40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CF2F3BB-127D-44BC-A8EF-A8BB5F5911CA}"/>
              </a:ext>
            </a:extLst>
          </p:cNvPr>
          <p:cNvSpPr/>
          <p:nvPr/>
        </p:nvSpPr>
        <p:spPr>
          <a:xfrm rot="10800000" flipH="1">
            <a:off x="0" y="6401226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0D1F30-F118-4A1F-A48F-7E5706959F64}"/>
              </a:ext>
            </a:extLst>
          </p:cNvPr>
          <p:cNvSpPr/>
          <p:nvPr/>
        </p:nvSpPr>
        <p:spPr>
          <a:xfrm flipH="1">
            <a:off x="4038602" y="6401228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AE890C-17CE-44C0-BDED-BA68F92A8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795528"/>
            <a:ext cx="10241280" cy="123444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910A6E-46D1-42CF-996C-2207737FB8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2112264"/>
            <a:ext cx="10241280" cy="395935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5B5247-D236-462B-BCE0-2A24DF75B0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09560" y="6409944"/>
            <a:ext cx="3703320" cy="448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300" baseline="0">
                <a:solidFill>
                  <a:srgbClr val="FFFFFF"/>
                </a:solidFill>
              </a:defRPr>
            </a:lvl1pPr>
          </a:lstStyle>
          <a:p>
            <a:fld id="{AE0C963C-C1DB-4AFD-9DDC-0691666BF49B}" type="datetime2">
              <a:rPr lang="en-US" smtClean="0"/>
              <a:pPr/>
              <a:t>Tuesday, May 27, 2025</a:t>
            </a:fld>
            <a:endParaRPr lang="en-US" cap="al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55C58-7DDF-4CD4-96AD-F9CC844D84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828800" y="1911096"/>
            <a:ext cx="411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1">
                <a:solidFill>
                  <a:schemeClr val="tx1"/>
                </a:solidFill>
                <a:latin typeface="+mj-lt"/>
              </a:defRPr>
            </a:lvl1pPr>
          </a:lstStyle>
          <a:p>
            <a:pPr algn="l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5647-A849-45D9-BC71-46A12E6DE4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7744" y="6409944"/>
            <a:ext cx="438912" cy="448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C01389E6-C847-4AD0-B56D-D205B2EAB1EE}" type="slidenum">
              <a:rPr lang="en-US" smtClean="0"/>
              <a:pPr/>
              <a:t>‹#›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813869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01" r:id="rId4"/>
    <p:sldLayoutId id="2147483702" r:id="rId5"/>
    <p:sldLayoutId id="2147483707" r:id="rId6"/>
    <p:sldLayoutId id="2147483703" r:id="rId7"/>
    <p:sldLayoutId id="2147483704" r:id="rId8"/>
    <p:sldLayoutId id="2147483705" r:id="rId9"/>
    <p:sldLayoutId id="2147483706" r:id="rId10"/>
    <p:sldLayoutId id="2147483708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i="0" kern="1200" cap="all" spc="7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619DE0E-F039-443E-AF60-E4B6AA72D29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A065953-3D69-4CD4-80C3-DF10DEB4C76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30"/>
            <a:ext cx="8104091" cy="6857571"/>
          </a:xfrm>
          <a:prstGeom prst="rect">
            <a:avLst/>
          </a:prstGeom>
          <a:gradFill>
            <a:gsLst>
              <a:gs pos="0">
                <a:schemeClr val="accent4">
                  <a:alpha val="80000"/>
                </a:schemeClr>
              </a:gs>
              <a:gs pos="100000">
                <a:schemeClr val="accent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AB36DB5-F10D-4EDB-87E2-ECB9301FFC6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874250" y="627728"/>
            <a:ext cx="4355593" cy="8104092"/>
          </a:xfrm>
          <a:prstGeom prst="rect">
            <a:avLst/>
          </a:prstGeom>
          <a:gradFill>
            <a:gsLst>
              <a:gs pos="0">
                <a:schemeClr val="accent5">
                  <a:alpha val="0"/>
                </a:schemeClr>
              </a:gs>
              <a:gs pos="91000">
                <a:schemeClr val="accent2">
                  <a:alpha val="43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6F195D-95DC-419E-BBC1-E2B601A6067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-1"/>
            <a:ext cx="5638801" cy="6886827"/>
          </a:xfrm>
          <a:prstGeom prst="rect">
            <a:avLst/>
          </a:prstGeom>
          <a:gradFill>
            <a:gsLst>
              <a:gs pos="49000">
                <a:schemeClr val="accent6">
                  <a:lumMod val="75000"/>
                  <a:alpha val="0"/>
                </a:schemeClr>
              </a:gs>
              <a:gs pos="99000">
                <a:schemeClr val="accent6">
                  <a:alpha val="79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5993D72-5628-4E5E-BB9F-96066414EEF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1609180" y="724988"/>
            <a:ext cx="5121259" cy="5458067"/>
          </a:xfrm>
          <a:prstGeom prst="ellipse">
            <a:avLst/>
          </a:prstGeom>
          <a:gradFill>
            <a:gsLst>
              <a:gs pos="39000">
                <a:schemeClr val="accent4">
                  <a:lumMod val="20000"/>
                  <a:lumOff val="80000"/>
                  <a:alpha val="0"/>
                </a:schemeClr>
              </a:gs>
              <a:gs pos="100000">
                <a:schemeClr val="accent6">
                  <a:alpha val="29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D1F173-BA62-AB02-1B08-FBFDAAA88E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83226" y="3660022"/>
            <a:ext cx="4283716" cy="2802193"/>
          </a:xfrm>
        </p:spPr>
        <p:txBody>
          <a:bodyPr anchor="t">
            <a:normAutofit fontScale="90000"/>
          </a:bodyPr>
          <a:lstStyle/>
          <a:p>
            <a:pPr marL="0" marR="0" algn="r">
              <a:spcBef>
                <a:spcPts val="30"/>
              </a:spcBef>
              <a:buNone/>
            </a:pPr>
            <a:r>
              <a:rPr lang="en-US" sz="2000" spc="0">
                <a:solidFill>
                  <a:schemeClr val="bg1"/>
                </a:solidFill>
                <a:latin typeface="Aptos Black" panose="020B0004020202020204" pitchFamily="34" charset="0"/>
              </a:rPr>
              <a:t/>
            </a:r>
            <a:br>
              <a:rPr lang="en-US" sz="2000" spc="0">
                <a:solidFill>
                  <a:schemeClr val="bg1"/>
                </a:solidFill>
                <a:latin typeface="Aptos Black" panose="020B0004020202020204" pitchFamily="34" charset="0"/>
              </a:rPr>
            </a:br>
            <a:r>
              <a:rPr lang="en-US" sz="2000" spc="0">
                <a:solidFill>
                  <a:schemeClr val="bg1"/>
                </a:solidFill>
                <a:latin typeface="Aptos Black" panose="020B0004020202020204" pitchFamily="34" charset="0"/>
              </a:rPr>
              <a:t>Digital Logic and circuit lab</a:t>
            </a:r>
            <a:br>
              <a:rPr lang="en-US" sz="2000" spc="0">
                <a:solidFill>
                  <a:schemeClr val="bg1"/>
                </a:solidFill>
                <a:latin typeface="Aptos Black" panose="020B0004020202020204" pitchFamily="34" charset="0"/>
              </a:rPr>
            </a:br>
            <a:r>
              <a:rPr lang="en-US" sz="2000" spc="0">
                <a:solidFill>
                  <a:schemeClr val="bg1"/>
                </a:solidFill>
                <a:latin typeface="Aptos Black" panose="020B0004020202020204" pitchFamily="34" charset="0"/>
              </a:rPr>
              <a:t>Spring 24-2025</a:t>
            </a:r>
            <a:br>
              <a:rPr lang="en-US" sz="2000" spc="0">
                <a:solidFill>
                  <a:schemeClr val="bg1"/>
                </a:solidFill>
                <a:latin typeface="Aptos Black" panose="020B0004020202020204" pitchFamily="34" charset="0"/>
              </a:rPr>
            </a:br>
            <a:r>
              <a:rPr lang="en-US" sz="2000" spc="0">
                <a:solidFill>
                  <a:schemeClr val="bg1"/>
                </a:solidFill>
                <a:latin typeface="Aptos Black" panose="020B0004020202020204" pitchFamily="34" charset="0"/>
              </a:rPr>
              <a:t>Section: D</a:t>
            </a:r>
            <a:br>
              <a:rPr lang="en-US" sz="2000" spc="0">
                <a:solidFill>
                  <a:schemeClr val="bg1"/>
                </a:solidFill>
                <a:latin typeface="Aptos Black" panose="020B0004020202020204" pitchFamily="34" charset="0"/>
              </a:rPr>
            </a:br>
            <a:r>
              <a:rPr lang="en-US" sz="2000" spc="0">
                <a:solidFill>
                  <a:schemeClr val="bg1"/>
                </a:solidFill>
                <a:latin typeface="Aptos Black" panose="020B0004020202020204" pitchFamily="34" charset="0"/>
              </a:rPr>
              <a:t>Group: 04</a:t>
            </a:r>
            <a:br>
              <a:rPr lang="en-US" sz="2000" spc="0">
                <a:solidFill>
                  <a:schemeClr val="bg1"/>
                </a:solidFill>
                <a:latin typeface="Aptos Black" panose="020B0004020202020204" pitchFamily="34" charset="0"/>
              </a:rPr>
            </a:br>
            <a:r>
              <a:rPr lang="en-US" sz="2000" spc="0">
                <a:solidFill>
                  <a:schemeClr val="bg1"/>
                </a:solidFill>
                <a:latin typeface="Aptos Black" panose="020B0004020202020204" pitchFamily="34" charset="0"/>
              </a:rPr>
              <a:t>Course Code: EEE 3102</a:t>
            </a:r>
            <a:br>
              <a:rPr lang="en-US" sz="2000" spc="0">
                <a:solidFill>
                  <a:schemeClr val="bg1"/>
                </a:solidFill>
                <a:latin typeface="Aptos Black" panose="020B0004020202020204" pitchFamily="34" charset="0"/>
              </a:rPr>
            </a:br>
            <a:r>
              <a:rPr lang="en-US" sz="2000" spc="0">
                <a:solidFill>
                  <a:schemeClr val="bg1"/>
                </a:solidFill>
                <a:latin typeface="Aptos Black" panose="020B0004020202020204" pitchFamily="34" charset="0"/>
              </a:rPr>
              <a:t/>
            </a:r>
            <a:br>
              <a:rPr lang="en-US" sz="2000" spc="0">
                <a:solidFill>
                  <a:schemeClr val="bg1"/>
                </a:solidFill>
                <a:latin typeface="Aptos Black" panose="020B0004020202020204" pitchFamily="34" charset="0"/>
              </a:rPr>
            </a:br>
            <a:r>
              <a:rPr lang="en-US" sz="2000" spc="0">
                <a:solidFill>
                  <a:schemeClr val="bg1"/>
                </a:solidFill>
                <a:latin typeface="Aptos Black" panose="020B0004020202020204" pitchFamily="34" charset="0"/>
              </a:rPr>
              <a:t/>
            </a:r>
            <a:br>
              <a:rPr lang="en-US" sz="2000" spc="0">
                <a:solidFill>
                  <a:schemeClr val="bg1"/>
                </a:solidFill>
                <a:latin typeface="Aptos Black" panose="020B0004020202020204" pitchFamily="34" charset="0"/>
              </a:rPr>
            </a:br>
            <a:r>
              <a:rPr lang="en-US" sz="2000" b="1" spc="0">
                <a:effectLst/>
                <a:latin typeface="Aptos Black" panose="020B0004020202020204" pitchFamily="34" charset="0"/>
                <a:ea typeface="Times New Roman" panose="02020603050405020304" pitchFamily="18" charset="0"/>
              </a:rPr>
              <a:t>Supervised By</a:t>
            </a:r>
            <a:r>
              <a:rPr lang="en-US" sz="20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en-US" sz="20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000" b="1" spc="0">
                <a:effectLst/>
                <a:latin typeface="Aptos Black" panose="020B0004020202020204" pitchFamily="34" charset="0"/>
                <a:ea typeface="Times New Roman" panose="02020603050405020304" pitchFamily="18" charset="0"/>
              </a:rPr>
              <a:t>S M TANVIR HASSAN SHOVON</a:t>
            </a:r>
            <a: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en-US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000" spc="0">
                <a:solidFill>
                  <a:schemeClr val="bg1"/>
                </a:solidFill>
                <a:latin typeface="Aptos Black" panose="020B0004020202020204" pitchFamily="34" charset="0"/>
              </a:rPr>
              <a:t/>
            </a:r>
            <a:br>
              <a:rPr lang="en-US" sz="2000" spc="0">
                <a:solidFill>
                  <a:schemeClr val="bg1"/>
                </a:solidFill>
                <a:latin typeface="Aptos Black" panose="020B0004020202020204" pitchFamily="34" charset="0"/>
              </a:rPr>
            </a:br>
            <a:r>
              <a:rPr lang="en-US" sz="2000" spc="0">
                <a:solidFill>
                  <a:schemeClr val="bg1"/>
                </a:solidFill>
                <a:latin typeface="Aptos Black" panose="020B0004020202020204" pitchFamily="34" charset="0"/>
              </a:rPr>
              <a:t/>
            </a:r>
            <a:br>
              <a:rPr lang="en-US" sz="2000" spc="0">
                <a:solidFill>
                  <a:schemeClr val="bg1"/>
                </a:solidFill>
                <a:latin typeface="Aptos Black" panose="020B0004020202020204" pitchFamily="34" charset="0"/>
              </a:rPr>
            </a:br>
            <a:r>
              <a:rPr lang="en-US" sz="2000" spc="0">
                <a:solidFill>
                  <a:schemeClr val="bg1"/>
                </a:solidFill>
                <a:latin typeface="Aptos Black" panose="020B0004020202020204" pitchFamily="34" charset="0"/>
              </a:rPr>
              <a:t> </a:t>
            </a:r>
            <a:endParaRPr lang="en-US" sz="2000" dirty="0">
              <a:solidFill>
                <a:schemeClr val="bg1"/>
              </a:solidFill>
              <a:latin typeface="Aptos Black" panose="020B00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8CFC61-3DE4-38B1-42A5-AFE251F70C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677" y="547181"/>
            <a:ext cx="1633870" cy="160948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2B11B862-C64B-C22E-46CF-0FFD5987B2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22024" y="796412"/>
            <a:ext cx="5144918" cy="1152821"/>
          </a:xfrm>
        </p:spPr>
        <p:txBody>
          <a:bodyPr anchor="b">
            <a:noAutofit/>
          </a:bodyPr>
          <a:lstStyle/>
          <a:p>
            <a:pPr algn="r"/>
            <a:r>
              <a:rPr lang="en-US" sz="2000" spc="0">
                <a:solidFill>
                  <a:schemeClr val="bg1"/>
                </a:solidFill>
                <a:latin typeface="Aptos Black" panose="020B0004020202020204" pitchFamily="34" charset="0"/>
              </a:rPr>
              <a:t>American International University-Bangladesh(Aiub)</a:t>
            </a:r>
            <a:br>
              <a:rPr lang="en-US" sz="2000" spc="0">
                <a:solidFill>
                  <a:schemeClr val="bg1"/>
                </a:solidFill>
                <a:latin typeface="Aptos Black" panose="020B0004020202020204" pitchFamily="34" charset="0"/>
              </a:rPr>
            </a:br>
            <a:r>
              <a:rPr lang="en-US" sz="2000" spc="0">
                <a:solidFill>
                  <a:schemeClr val="bg1"/>
                </a:solidFill>
                <a:latin typeface="Aptos Black" panose="020B0004020202020204" pitchFamily="34" charset="0"/>
              </a:rPr>
              <a:t>Faculty of Science and Technology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20" name="Picture 19" descr="A blue abstract watercolor pattern on a white background">
            <a:extLst>
              <a:ext uri="{FF2B5EF4-FFF2-40B4-BE49-F238E27FC236}">
                <a16:creationId xmlns:a16="http://schemas.microsoft.com/office/drawing/2014/main" id="{22DA02E3-68E2-0DA7-D50F-E0D9E39C89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430" r="33664" b="-1"/>
          <a:stretch>
            <a:fillRect/>
          </a:stretch>
        </p:blipFill>
        <p:spPr>
          <a:xfrm>
            <a:off x="8104092" y="10"/>
            <a:ext cx="4099858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003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BD4C0BBB-0042-4603-A226-6117F3FD5B3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C44F520-2598-460E-9F91-B02F60830CA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0"/>
            <a:ext cx="12191999" cy="6858000"/>
          </a:xfrm>
          <a:prstGeom prst="rect">
            <a:avLst/>
          </a:prstGeom>
          <a:gradFill>
            <a:gsLst>
              <a:gs pos="0">
                <a:schemeClr val="accent5">
                  <a:alpha val="75000"/>
                </a:schemeClr>
              </a:gs>
              <a:gs pos="100000">
                <a:schemeClr val="tx2">
                  <a:lumMod val="50000"/>
                  <a:lumOff val="50000"/>
                  <a:alpha val="48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4" y="456773"/>
            <a:ext cx="12191999" cy="6400800"/>
          </a:xfrm>
          <a:prstGeom prst="rect">
            <a:avLst/>
          </a:prstGeom>
          <a:gradFill>
            <a:gsLst>
              <a:gs pos="0">
                <a:schemeClr val="accent5">
                  <a:alpha val="37000"/>
                </a:schemeClr>
              </a:gs>
              <a:gs pos="92000">
                <a:schemeClr val="accent2">
                  <a:alpha val="75000"/>
                </a:scheme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96001" cy="6858000"/>
          </a:xfrm>
          <a:prstGeom prst="rect">
            <a:avLst/>
          </a:prstGeom>
          <a:gradFill>
            <a:gsLst>
              <a:gs pos="13000">
                <a:schemeClr val="accent2">
                  <a:alpha val="61000"/>
                </a:schemeClr>
              </a:gs>
              <a:gs pos="99000">
                <a:schemeClr val="accent4"/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17DBF1-C97B-9207-5609-B4D5C6BE3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918" y="1028700"/>
            <a:ext cx="10614211" cy="1152712"/>
          </a:xfrm>
        </p:spPr>
        <p:txBody>
          <a:bodyPr vert="horz" lIns="0" tIns="0" rIns="0" bIns="0" rtlCol="0" anchor="b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1900" u="sng" spc="750">
                <a:solidFill>
                  <a:schemeClr val="bg1"/>
                </a:solidFill>
              </a:rPr>
              <a:t/>
            </a:r>
            <a:br>
              <a:rPr lang="en-US" sz="1900" u="sng" spc="750">
                <a:solidFill>
                  <a:schemeClr val="bg1"/>
                </a:solidFill>
              </a:rPr>
            </a:br>
            <a:r>
              <a:rPr lang="en-US" sz="1900" spc="750">
                <a:solidFill>
                  <a:schemeClr val="bg1"/>
                </a:solidFill>
                <a:effectLst/>
              </a:rPr>
              <a:t/>
            </a:r>
            <a:br>
              <a:rPr lang="en-US" sz="1900" spc="750">
                <a:solidFill>
                  <a:schemeClr val="bg1"/>
                </a:solidFill>
                <a:effectLst/>
              </a:rPr>
            </a:br>
            <a:r>
              <a:rPr lang="en-US" sz="1900" spc="750">
                <a:solidFill>
                  <a:schemeClr val="bg1"/>
                </a:solidFill>
              </a:rPr>
              <a:t/>
            </a:r>
            <a:br>
              <a:rPr lang="en-US" sz="1900" spc="750">
                <a:solidFill>
                  <a:schemeClr val="bg1"/>
                </a:solidFill>
              </a:rPr>
            </a:br>
            <a:endParaRPr lang="en-US" sz="1900" spc="750">
              <a:solidFill>
                <a:schemeClr val="bg1"/>
              </a:solidFill>
            </a:endParaRPr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32B3ACB3-D689-442E-8A40-8680B0FEB8A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4063256" y="400727"/>
            <a:ext cx="4065484" cy="8849062"/>
          </a:xfrm>
          <a:custGeom>
            <a:avLst/>
            <a:gdLst>
              <a:gd name="connsiteX0" fmla="*/ 0 w 4065484"/>
              <a:gd name="connsiteY0" fmla="*/ 4424531 h 8849062"/>
              <a:gd name="connsiteX1" fmla="*/ 3899197 w 4065484"/>
              <a:gd name="connsiteY1" fmla="*/ 8840480 h 8849062"/>
              <a:gd name="connsiteX2" fmla="*/ 4065484 w 4065484"/>
              <a:gd name="connsiteY2" fmla="*/ 8849062 h 8849062"/>
              <a:gd name="connsiteX3" fmla="*/ 4065483 w 4065484"/>
              <a:gd name="connsiteY3" fmla="*/ 0 h 8849062"/>
              <a:gd name="connsiteX4" fmla="*/ 3899197 w 4065484"/>
              <a:gd name="connsiteY4" fmla="*/ 8581 h 8849062"/>
              <a:gd name="connsiteX5" fmla="*/ 0 w 4065484"/>
              <a:gd name="connsiteY5" fmla="*/ 4424531 h 8849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65484" h="8849062">
                <a:moveTo>
                  <a:pt x="0" y="4424531"/>
                </a:moveTo>
                <a:cubicBezTo>
                  <a:pt x="0" y="6722831"/>
                  <a:pt x="1709076" y="8613167"/>
                  <a:pt x="3899197" y="8840480"/>
                </a:cubicBezTo>
                <a:lnTo>
                  <a:pt x="4065484" y="8849062"/>
                </a:lnTo>
                <a:lnTo>
                  <a:pt x="4065483" y="0"/>
                </a:lnTo>
                <a:lnTo>
                  <a:pt x="3899197" y="8581"/>
                </a:lnTo>
                <a:cubicBezTo>
                  <a:pt x="1709075" y="235897"/>
                  <a:pt x="0" y="2126232"/>
                  <a:pt x="0" y="4424531"/>
                </a:cubicBezTo>
                <a:close/>
              </a:path>
            </a:pathLst>
          </a:custGeom>
          <a:gradFill flip="none" rotWithShape="1">
            <a:gsLst>
              <a:gs pos="7000">
                <a:schemeClr val="accent4">
                  <a:lumMod val="60000"/>
                  <a:lumOff val="40000"/>
                  <a:alpha val="3000"/>
                </a:schemeClr>
              </a:gs>
              <a:gs pos="100000">
                <a:schemeClr val="bg1">
                  <a:alpha val="16000"/>
                </a:schemeClr>
              </a:gs>
            </a:gsLst>
            <a:lin ang="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D953E1-CFB6-5423-CA33-5D67CA7B7A08}"/>
              </a:ext>
            </a:extLst>
          </p:cNvPr>
          <p:cNvSpPr txBox="1"/>
          <p:nvPr/>
        </p:nvSpPr>
        <p:spPr>
          <a:xfrm>
            <a:off x="3315364" y="766900"/>
            <a:ext cx="3885755" cy="44294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50000"/>
              </a:lnSpc>
              <a:spcBef>
                <a:spcPts val="1000"/>
              </a:spcBef>
            </a:pPr>
            <a:r>
              <a:rPr lang="en-US" sz="2400" b="1" u="sng" cap="all" spc="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Group Members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FD9B69-192C-9A00-AA44-564F2C17D202}"/>
              </a:ext>
            </a:extLst>
          </p:cNvPr>
          <p:cNvSpPr txBox="1"/>
          <p:nvPr/>
        </p:nvSpPr>
        <p:spPr>
          <a:xfrm>
            <a:off x="1671462" y="2329316"/>
            <a:ext cx="746268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arenR"/>
            </a:pPr>
            <a:r>
              <a:rPr lang="en-US" sz="2400" dirty="0"/>
              <a:t>DEBASHIS KUMAR DAS                  (23-50953-1)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arenR"/>
            </a:pPr>
            <a:r>
              <a:rPr lang="en-US" sz="2400" dirty="0"/>
              <a:t>BASUDEB KUNDU                            (23-50856-1)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arenR"/>
            </a:pPr>
            <a:r>
              <a:rPr lang="en-US" sz="2400" dirty="0"/>
              <a:t>MD. OMAR FAROQUE BHUIYAN   (23-50048-1)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arenR"/>
            </a:pPr>
            <a:r>
              <a:rPr lang="en-US" sz="2400" dirty="0"/>
              <a:t>ARGHA GHOSH                                 (23-50804-1)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arenR"/>
            </a:pPr>
            <a:r>
              <a:rPr lang="en-US" sz="2400" b="0" i="0" dirty="0">
                <a:solidFill>
                  <a:srgbClr val="080809"/>
                </a:solidFill>
                <a:effectLst/>
                <a:latin typeface="Segoe UI Historic" panose="020B0502040204020203" pitchFamily="34" charset="0"/>
              </a:rPr>
              <a:t>Tauhid Sarker                                   (23-52773-2)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56431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8F1DA978-2FF0-4E09-976F-91C6D4AA527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EC398C5-5C2E-4038-9DB3-DE2B5A9BEFF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80619" y="381383"/>
            <a:ext cx="6858000" cy="6095233"/>
          </a:xfrm>
          <a:prstGeom prst="rect">
            <a:avLst/>
          </a:prstGeom>
          <a:gradFill>
            <a:gsLst>
              <a:gs pos="8000">
                <a:schemeClr val="accent6"/>
              </a:gs>
              <a:gs pos="100000">
                <a:schemeClr val="accent5">
                  <a:alpha val="89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2F10B26-073B-4B10-8AAA-161242DD82B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25488" y="125488"/>
            <a:ext cx="6346209" cy="6095235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99000">
                <a:schemeClr val="accent2">
                  <a:alpha val="90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10DBBC7-698F-4A54-B1CB-A99F9CC356D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788104" y="2550870"/>
            <a:ext cx="2501979" cy="6112279"/>
          </a:xfrm>
          <a:prstGeom prst="rect">
            <a:avLst/>
          </a:prstGeom>
          <a:gradFill>
            <a:gsLst>
              <a:gs pos="2000">
                <a:schemeClr val="accent5">
                  <a:alpha val="28000"/>
                </a:schemeClr>
              </a:gs>
              <a:gs pos="100000">
                <a:schemeClr val="accent4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579BBB12-9455-421B-86B2-0EA77520230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72450" y="728296"/>
            <a:ext cx="4808302" cy="4808302"/>
          </a:xfrm>
          <a:prstGeom prst="ellipse">
            <a:avLst/>
          </a:prstGeom>
          <a:gradFill>
            <a:gsLst>
              <a:gs pos="39000">
                <a:schemeClr val="accent4">
                  <a:lumMod val="20000"/>
                  <a:lumOff val="80000"/>
                  <a:alpha val="0"/>
                </a:schemeClr>
              </a:gs>
              <a:gs pos="100000">
                <a:schemeClr val="accent6">
                  <a:alpha val="29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C21AE81E-DA22-333D-C0DD-7A68C0A990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2556" y="740172"/>
            <a:ext cx="4688488" cy="544123"/>
          </a:xfrm>
        </p:spPr>
        <p:txBody>
          <a:bodyPr>
            <a:normAutofit/>
          </a:bodyPr>
          <a:lstStyle/>
          <a:p>
            <a:pPr algn="l"/>
            <a:r>
              <a:rPr lang="en-US" sz="3400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</a:t>
            </a:r>
          </a:p>
        </p:txBody>
      </p:sp>
      <p:sp>
        <p:nvSpPr>
          <p:cNvPr id="17" name="Subtitle 16">
            <a:extLst>
              <a:ext uri="{FF2B5EF4-FFF2-40B4-BE49-F238E27FC236}">
                <a16:creationId xmlns:a16="http://schemas.microsoft.com/office/drawing/2014/main" id="{89AD4298-411E-5E00-64C8-35B863383A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2556" y="1577267"/>
            <a:ext cx="4688488" cy="3727478"/>
          </a:xfrm>
        </p:spPr>
        <p:txBody>
          <a:bodyPr>
            <a:noAutofit/>
          </a:bodyPr>
          <a:lstStyle/>
          <a:p>
            <a:pPr algn="just">
              <a:lnSpc>
                <a:spcPct val="140000"/>
              </a:lnSpc>
            </a:pPr>
            <a:r>
              <a:rPr lang="en-US" sz="2000" cap="none" spc="-15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presents the design of an obstacle avoiding car using an </a:t>
            </a:r>
            <a:r>
              <a:rPr lang="en-US" sz="2000" cap="none" spc="-15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</a:t>
            </a:r>
            <a:r>
              <a:rPr lang="en-US" sz="2000" cap="none" spc="-15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cap="none" spc="-15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uno</a:t>
            </a:r>
            <a:r>
              <a:rPr lang="en-US" sz="2000" cap="none" spc="-15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R3. The car uses an ultrasonic sensor mounted on a servo motor  to detect obstacles ahead and IR sensors for close-range side detection. Based on sensor input, the </a:t>
            </a:r>
            <a:r>
              <a:rPr lang="en-US" sz="2000" cap="none" spc="-15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</a:t>
            </a:r>
            <a:r>
              <a:rPr lang="en-US" sz="2000" cap="none" spc="-15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controls the movement through an L298N motor driver, adjusting direction to avoid collisions. This low-cost setup demonstrates basic autonomous navigation and real-time decision-making in robotics.</a:t>
            </a:r>
            <a:endParaRPr lang="en-US" sz="2000" cap="none" spc="-15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9" name="Graphic 38" descr="Books">
            <a:extLst>
              <a:ext uri="{FF2B5EF4-FFF2-40B4-BE49-F238E27FC236}">
                <a16:creationId xmlns:a16="http://schemas.microsoft.com/office/drawing/2014/main" id="{EB39E5C5-61BF-C16C-7807-BE03C82751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19154" y="1199785"/>
            <a:ext cx="4449692" cy="4449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005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2" name="Rectangle 3101">
            <a:extLst>
              <a:ext uri="{FF2B5EF4-FFF2-40B4-BE49-F238E27FC236}">
                <a16:creationId xmlns:a16="http://schemas.microsoft.com/office/drawing/2014/main" id="{BD4C0BBB-0042-4603-A226-6117F3FD5B3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03" name="Rectangle 3102">
            <a:extLst>
              <a:ext uri="{FF2B5EF4-FFF2-40B4-BE49-F238E27FC236}">
                <a16:creationId xmlns:a16="http://schemas.microsoft.com/office/drawing/2014/main" id="{EC44F520-2598-460E-9F91-B02F60830CA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104" name="Rectangle 3103">
            <a:extLst>
              <a:ext uri="{FF2B5EF4-FFF2-40B4-BE49-F238E27FC236}">
                <a16:creationId xmlns:a16="http://schemas.microsoft.com/office/drawing/2014/main" id="{6ACA6F80-D392-A64E-3CF8-F28F1CCEE67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3105" name="Rectangle 3104">
            <a:extLst>
              <a:ext uri="{FF2B5EF4-FFF2-40B4-BE49-F238E27FC236}">
                <a16:creationId xmlns:a16="http://schemas.microsoft.com/office/drawing/2014/main" id="{81097DDE-1D45-40A7-9F85-72AD9472A02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06" name="Rectangle 3105">
            <a:extLst>
              <a:ext uri="{FF2B5EF4-FFF2-40B4-BE49-F238E27FC236}">
                <a16:creationId xmlns:a16="http://schemas.microsoft.com/office/drawing/2014/main" id="{415C4FE2-5362-FB30-4461-17307BE10C9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9000">
                <a:schemeClr val="tx2">
                  <a:lumMod val="50000"/>
                  <a:lumOff val="50000"/>
                  <a:alpha val="3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Quad Store - DIY 2WD Obstacle Avoidance Robot Car using compatible UNO R3  board (Only Parts, NO Guide Series) : Amazon.in: Industrial &amp; Scientific">
            <a:extLst>
              <a:ext uri="{FF2B5EF4-FFF2-40B4-BE49-F238E27FC236}">
                <a16:creationId xmlns:a16="http://schemas.microsoft.com/office/drawing/2014/main" id="{6CCC2601-C7A8-F812-7430-F38E704795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6" b="9635"/>
          <a:stretch>
            <a:fillRect/>
          </a:stretch>
        </p:blipFill>
        <p:spPr bwMode="auto">
          <a:xfrm>
            <a:off x="614679" y="1901952"/>
            <a:ext cx="4801194" cy="4297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55C7D5C-D617-A523-F3DE-D200CA56AF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4679" y="457200"/>
            <a:ext cx="4779572" cy="1298448"/>
          </a:xfrm>
        </p:spPr>
        <p:txBody>
          <a:bodyPr vert="horz" lIns="0" tIns="0" rIns="0" bIns="0" rtlCol="0" anchor="t">
            <a:normAutofit/>
          </a:bodyPr>
          <a:lstStyle/>
          <a:p>
            <a:pPr algn="l"/>
            <a:r>
              <a:rPr lang="en-US" sz="3600" u="sng" spc="7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Components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6A579F-DB71-D80A-F46F-CA5580BD56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30550" y="457201"/>
            <a:ext cx="5639127" cy="5760720"/>
          </a:xfrm>
        </p:spPr>
        <p:txBody>
          <a:bodyPr vert="horz" lIns="0" tIns="0" rIns="0" bIns="0" rtlCol="0" anchor="t">
            <a:normAutofit/>
          </a:bodyPr>
          <a:lstStyle/>
          <a:p>
            <a:pPr indent="-2286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800" spc="-150"/>
              <a:t>1.  Arduino Uno R3 </a:t>
            </a:r>
          </a:p>
          <a:p>
            <a:pPr indent="-2286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800" spc="-150"/>
              <a:t>2.  Infrared Obstacle Avoidance IR Sensor Module</a:t>
            </a:r>
          </a:p>
          <a:p>
            <a:pPr indent="-2286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800" spc="-150"/>
              <a:t>3.  HC-SR04 Plus Ultrasonic Sonar Sensor</a:t>
            </a:r>
          </a:p>
          <a:p>
            <a:pPr indent="-2286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800" spc="-150"/>
              <a:t>4.  Servo Motor Micro SG90 180</a:t>
            </a:r>
          </a:p>
          <a:p>
            <a:pPr indent="-2286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800" spc="-150"/>
              <a:t>5.  L298N H-Bridge Dual Motor Driver</a:t>
            </a:r>
          </a:p>
          <a:p>
            <a:pPr indent="-2286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800" spc="-150"/>
              <a:t>6.  6v 100 RPM DC Gear BO Motor</a:t>
            </a:r>
          </a:p>
          <a:p>
            <a:pPr indent="-2286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800" spc="-150"/>
              <a:t>7.  Yellow Plastic Mag Wheel Soft Tire</a:t>
            </a:r>
          </a:p>
          <a:p>
            <a:pPr indent="-2286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800" spc="-150"/>
              <a:t>8.  Breadboard small</a:t>
            </a:r>
          </a:p>
          <a:p>
            <a:pPr indent="-2286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800" spc="-150"/>
              <a:t>9.  Battery </a:t>
            </a:r>
          </a:p>
        </p:txBody>
      </p:sp>
    </p:spTree>
    <p:extLst>
      <p:ext uri="{BB962C8B-B14F-4D97-AF65-F5344CB8AC3E}">
        <p14:creationId xmlns:p14="http://schemas.microsoft.com/office/powerpoint/2010/main" val="2864465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Rectangle 1049">
            <a:extLst>
              <a:ext uri="{FF2B5EF4-FFF2-40B4-BE49-F238E27FC236}">
                <a16:creationId xmlns:a16="http://schemas.microsoft.com/office/drawing/2014/main" id="{BD4C0BBB-0042-4603-A226-6117F3FD5B3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2" name="Rectangle 1051">
            <a:extLst>
              <a:ext uri="{FF2B5EF4-FFF2-40B4-BE49-F238E27FC236}">
                <a16:creationId xmlns:a16="http://schemas.microsoft.com/office/drawing/2014/main" id="{EC44F520-2598-460E-9F91-B02F60830CA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54" name="Rectangle 1053">
            <a:extLst>
              <a:ext uri="{FF2B5EF4-FFF2-40B4-BE49-F238E27FC236}">
                <a16:creationId xmlns:a16="http://schemas.microsoft.com/office/drawing/2014/main" id="{93DAF4AA-9270-40B5-B73C-B11B9A92F0B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841726-241D-834B-F1B4-101D747E763F}"/>
              </a:ext>
            </a:extLst>
          </p:cNvPr>
          <p:cNvSpPr txBox="1"/>
          <p:nvPr/>
        </p:nvSpPr>
        <p:spPr>
          <a:xfrm>
            <a:off x="165796" y="275984"/>
            <a:ext cx="8576270" cy="575802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3200" b="1" u="sng" cap="all" spc="7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Components Description</a:t>
            </a:r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3BED9C5F-E7F5-B03A-A0AD-71FDD50536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703" y="851785"/>
            <a:ext cx="6869240" cy="546862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0" tIns="0" rIns="0" bIns="0" numCol="1" rtlCol="0" anchorCtr="0" compatLnSpc="1">
            <a:prstTxWarp prst="textNoShape">
              <a:avLst/>
            </a:prstTxWarp>
            <a:noAutofit/>
          </a:bodyPr>
          <a:lstStyle/>
          <a:p>
            <a:pPr marL="0" marR="0" lvl="0" indent="-2286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-2286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effectLst/>
              </a:rPr>
              <a:t>This project is an autonomous Obstacle Avoiding Car built using an Arduino Uno R3 microcontroller. The vehicle is designed to navigate its environment by detecting and avoiding obstacles using a combination of infrared (IR) and ultrasonic sensors.</a:t>
            </a:r>
          </a:p>
          <a:p>
            <a:pPr marL="0" marR="0" lvl="0" indent="-2286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effectLst/>
              </a:rPr>
              <a:t>Arduino Uno R3 serves as the brain of the system, processing sensor inputs and controlling motor outputs.</a:t>
            </a:r>
          </a:p>
          <a:p>
            <a:pPr marL="0" marR="0" lvl="0" indent="-2286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effectLst/>
              </a:rPr>
              <a:t>HC-SR04 Plus Ultrasonic Sensor detects objects in front of the car by measuring distance via sound waves, enabling accurate forward obstacle detection.</a:t>
            </a:r>
          </a:p>
          <a:p>
            <a:pPr marL="0" marR="0" lvl="0" indent="-2286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effectLst/>
              </a:rPr>
              <a:t>Infrared Obstacle Avoidance IR Sensor Module provides short-range object detection on the sides to assist in steering decisions.</a:t>
            </a:r>
          </a:p>
          <a:p>
            <a:pPr marL="0" marR="0" lvl="0" indent="-2286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effectLst/>
              </a:rPr>
              <a:t>SG90 Micro Servo Motor rotates the ultrasonic sensor to scan the surroundings and determine the optimal path.</a:t>
            </a:r>
          </a:p>
          <a:p>
            <a:pPr marL="0" marR="0" lvl="0" indent="-2286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effectLst/>
              </a:rPr>
              <a:t>L298N H-Bridge Dual Motor Driver is used to control the direction and speed of the 6V 100 RPM DC Gear BO Motors.</a:t>
            </a:r>
          </a:p>
          <a:p>
            <a:pPr marL="0" marR="0" lvl="0" indent="-2286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effectLst/>
              </a:rPr>
              <a:t>The motors drive the car forward or backward and allow turning by differential motor control, with Yellow Plastic Mag Wheels providing traction and mobility.</a:t>
            </a:r>
          </a:p>
          <a:p>
            <a:pPr marL="0" marR="0" lvl="0" indent="-2286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effectLst/>
              </a:rPr>
              <a:t>A small breadboard is used for circuit prototyping and easy connection of sensors and modules.</a:t>
            </a:r>
          </a:p>
          <a:p>
            <a:pPr marL="0" marR="0" lvl="0" indent="-2286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effectLst/>
              </a:rPr>
              <a:t>Power is supplied via a battery pack, enabling wireless and mobile operation.</a:t>
            </a:r>
          </a:p>
          <a:p>
            <a:pPr marL="0" marR="0" lvl="0" indent="-2286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effectLst/>
              </a:rPr>
              <a:t>This setup allows the robot car to move autonomously, detect obstacles, and change direction in real-time, making it ideal for basic robotics and embedded systems experimentation.</a:t>
            </a:r>
          </a:p>
        </p:txBody>
      </p:sp>
      <p:sp>
        <p:nvSpPr>
          <p:cNvPr id="1056" name="Rectangle 1055">
            <a:extLst>
              <a:ext uri="{FF2B5EF4-FFF2-40B4-BE49-F238E27FC236}">
                <a16:creationId xmlns:a16="http://schemas.microsoft.com/office/drawing/2014/main" id="{31D5E60A-D6B1-4F21-A993-313958AF0C0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15300" y="-4"/>
            <a:ext cx="4076699" cy="6858003"/>
          </a:xfrm>
          <a:prstGeom prst="rect">
            <a:avLst/>
          </a:prstGeom>
          <a:gradFill>
            <a:gsLst>
              <a:gs pos="8000">
                <a:schemeClr val="accent6"/>
              </a:gs>
              <a:gs pos="100000">
                <a:schemeClr val="accent5">
                  <a:alpha val="90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8" name="Rectangle 1057">
            <a:extLst>
              <a:ext uri="{FF2B5EF4-FFF2-40B4-BE49-F238E27FC236}">
                <a16:creationId xmlns:a16="http://schemas.microsoft.com/office/drawing/2014/main" id="{5B7BB16B-E108-4C64-97D5-7AC67CC5E2C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6724863" y="1390436"/>
            <a:ext cx="6857572" cy="4076700"/>
          </a:xfrm>
          <a:prstGeom prst="rect">
            <a:avLst/>
          </a:prstGeom>
          <a:gradFill>
            <a:gsLst>
              <a:gs pos="0">
                <a:schemeClr val="accent4">
                  <a:alpha val="13000"/>
                </a:schemeClr>
              </a:gs>
              <a:gs pos="99000">
                <a:schemeClr val="accent2">
                  <a:alpha val="52000"/>
                </a:schemeClr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60" name="Rectangle 1059">
            <a:extLst>
              <a:ext uri="{FF2B5EF4-FFF2-40B4-BE49-F238E27FC236}">
                <a16:creationId xmlns:a16="http://schemas.microsoft.com/office/drawing/2014/main" id="{A5F6A003-4671-4F7B-A12E-2946D61E435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6785110" y="1451112"/>
            <a:ext cx="6858001" cy="3955771"/>
          </a:xfrm>
          <a:prstGeom prst="rect">
            <a:avLst/>
          </a:prstGeom>
          <a:gradFill>
            <a:gsLst>
              <a:gs pos="0">
                <a:schemeClr val="accent6">
                  <a:alpha val="0"/>
                </a:schemeClr>
              </a:gs>
              <a:gs pos="72000">
                <a:schemeClr val="tx2">
                  <a:lumMod val="75000"/>
                  <a:lumOff val="25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Generated image">
            <a:extLst>
              <a:ext uri="{FF2B5EF4-FFF2-40B4-BE49-F238E27FC236}">
                <a16:creationId xmlns:a16="http://schemas.microsoft.com/office/drawing/2014/main" id="{5F31D1FB-547F-6F12-E5BA-1F6EA7A96F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" b="3"/>
          <a:stretch>
            <a:fillRect/>
          </a:stretch>
        </p:blipFill>
        <p:spPr bwMode="auto">
          <a:xfrm>
            <a:off x="7802843" y="1279908"/>
            <a:ext cx="4076701" cy="407670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</p:spTree>
    <p:extLst>
      <p:ext uri="{BB962C8B-B14F-4D97-AF65-F5344CB8AC3E}">
        <p14:creationId xmlns:p14="http://schemas.microsoft.com/office/powerpoint/2010/main" val="29553585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443" y="440871"/>
            <a:ext cx="5380264" cy="666532"/>
          </a:xfrm>
        </p:spPr>
        <p:txBody>
          <a:bodyPr/>
          <a:lstStyle/>
          <a:p>
            <a:r>
              <a:rPr lang="en-US" dirty="0"/>
              <a:t>CIRCUIT DESIGN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8507" y="1240971"/>
            <a:ext cx="10058400" cy="5142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5256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Rectangle 1035">
            <a:extLst>
              <a:ext uri="{FF2B5EF4-FFF2-40B4-BE49-F238E27FC236}">
                <a16:creationId xmlns:a16="http://schemas.microsoft.com/office/drawing/2014/main" id="{BD4C0BBB-0042-4603-A226-6117F3FD5B3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8" name="Rectangle 1037">
            <a:extLst>
              <a:ext uri="{FF2B5EF4-FFF2-40B4-BE49-F238E27FC236}">
                <a16:creationId xmlns:a16="http://schemas.microsoft.com/office/drawing/2014/main" id="{EC44F520-2598-460E-9F91-B02F60830CA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40" name="Rectangle 1039">
            <a:extLst>
              <a:ext uri="{FF2B5EF4-FFF2-40B4-BE49-F238E27FC236}">
                <a16:creationId xmlns:a16="http://schemas.microsoft.com/office/drawing/2014/main" id="{E3CBB9B1-7B7D-4BA1-A1AF-572168B3953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EFFB04-9B5E-C949-B6B0-915F1C5660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4592" y="142016"/>
            <a:ext cx="3244008" cy="884497"/>
          </a:xfrm>
        </p:spPr>
        <p:txBody>
          <a:bodyPr vert="horz" lIns="0" tIns="0" rIns="0" bIns="0" rtlCol="0" anchor="b">
            <a:normAutofit/>
          </a:bodyPr>
          <a:lstStyle/>
          <a:p>
            <a:pPr algn="l"/>
            <a:r>
              <a:rPr lang="en-US" sz="2800" u="sng" spc="7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How it works</a:t>
            </a:r>
          </a:p>
        </p:txBody>
      </p:sp>
      <p:pic>
        <p:nvPicPr>
          <p:cNvPr id="1031" name="Picture 7" descr="Arduino Obstacle Avoiding Robot Car 2WD With AA Battery : 4 Steps -  Instructables">
            <a:extLst>
              <a:ext uri="{FF2B5EF4-FFF2-40B4-BE49-F238E27FC236}">
                <a16:creationId xmlns:a16="http://schemas.microsoft.com/office/drawing/2014/main" id="{E68EE5C5-9804-BBA5-2339-762C40C60A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5145"/>
          <a:stretch>
            <a:fillRect/>
          </a:stretch>
        </p:blipFill>
        <p:spPr bwMode="auto">
          <a:xfrm>
            <a:off x="20" y="431"/>
            <a:ext cx="8115280" cy="6408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923C42DA-790F-5235-AE85-4C90ACA1ED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9245" y="1324780"/>
            <a:ext cx="3548807" cy="477337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0" tIns="0" rIns="0" bIns="0" numCol="1" rtlCol="0" anchorCtr="0" compatLnSpc="1">
            <a:prstTxWarp prst="textNoShape">
              <a:avLst/>
            </a:prstTxWarp>
            <a:normAutofit fontScale="62500" lnSpcReduction="20000"/>
          </a:bodyPr>
          <a:lstStyle/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5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 Brain: </a:t>
            </a:r>
            <a:r>
              <a:rPr lang="en-US" sz="2500" dirty="0"/>
              <a:t>Arduino Uno R3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500" dirty="0"/>
              <a:t>Controls everything. Gets sensor input, decides direction, sends signals to motors.</a:t>
            </a:r>
            <a:endParaRPr kumimoji="0" lang="en-US" altLang="en-US" sz="250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-2286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500" i="0" u="sng" strike="noStrike" cap="none" normalizeH="0" baseline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Eyes: </a:t>
            </a:r>
            <a:r>
              <a:rPr kumimoji="0" lang="en-US" altLang="en-US" sz="2500" i="0" u="none" strike="noStrike" cap="none" normalizeH="0" baseline="0" dirty="0">
                <a:ln>
                  <a:noFill/>
                </a:ln>
                <a:effectLst/>
              </a:rPr>
              <a:t>IR Sensor &amp; HC-SR04 Ultrasonic Sensor</a:t>
            </a:r>
          </a:p>
          <a:p>
            <a:pPr marL="0" marR="0" lvl="0" indent="-2286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500" i="0" u="none" strike="noStrike" cap="none" normalizeH="0" baseline="0" dirty="0">
                <a:ln>
                  <a:noFill/>
                </a:ln>
                <a:effectLst/>
              </a:rPr>
              <a:t>IR Sensor: Detects nearby obstacles (close range, like walls).</a:t>
            </a:r>
          </a:p>
          <a:p>
            <a:pPr marL="0" marR="0" lvl="0" indent="-2286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500" i="0" u="none" strike="noStrike" cap="none" normalizeH="0" baseline="0" dirty="0">
                <a:ln>
                  <a:noFill/>
                </a:ln>
                <a:effectLst/>
              </a:rPr>
              <a:t>HC-SR04: Measures distance in front to detect far obstacles.</a:t>
            </a:r>
          </a:p>
          <a:p>
            <a:pPr marL="0" marR="0" lvl="0" indent="-2286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500" i="0" u="none" strike="noStrike" cap="none" normalizeH="0" baseline="0" dirty="0">
                <a:ln>
                  <a:noFill/>
                </a:ln>
                <a:effectLst/>
              </a:rPr>
              <a:t>Together, they help the car detect obstacles ahead or on the sides.</a:t>
            </a:r>
          </a:p>
          <a:p>
            <a:pPr marL="0" marR="0" lvl="0" indent="-2286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5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</a:t>
            </a:r>
            <a:r>
              <a:rPr kumimoji="0" lang="en-US" altLang="en-US" sz="2500" i="0" u="sng" strike="noStrike" cap="none" normalizeH="0" baseline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Limbs: </a:t>
            </a:r>
            <a:r>
              <a:rPr kumimoji="0" lang="en-US" altLang="en-US" sz="2500" i="0" u="none" strike="noStrike" cap="none" normalizeH="0" baseline="0" dirty="0">
                <a:ln>
                  <a:noFill/>
                </a:ln>
                <a:effectLst/>
              </a:rPr>
              <a:t>Motors &amp; Wheels</a:t>
            </a:r>
          </a:p>
          <a:p>
            <a:pPr marL="0" marR="0" lvl="0" indent="-2286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500" i="0" u="none" strike="noStrike" cap="none" normalizeH="0" baseline="0" dirty="0">
                <a:ln>
                  <a:noFill/>
                </a:ln>
                <a:effectLst/>
              </a:rPr>
              <a:t>DC Gear BO Motors (x2) + Wheels: Drive the car forward/backward.</a:t>
            </a:r>
          </a:p>
          <a:p>
            <a:pPr marL="0" marR="0" lvl="0" indent="-2286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500" i="0" u="none" strike="noStrike" cap="none" normalizeH="0" baseline="0" dirty="0">
                <a:ln>
                  <a:noFill/>
                </a:ln>
                <a:effectLst/>
              </a:rPr>
              <a:t>L298N Motor Driver: Powers and controls the motors using signals from Arduino.</a:t>
            </a:r>
          </a:p>
          <a:p>
            <a:pPr marL="0" marR="0" lvl="0" indent="-2286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000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1042" name="Rectangle 1041">
            <a:extLst>
              <a:ext uri="{FF2B5EF4-FFF2-40B4-BE49-F238E27FC236}">
                <a16:creationId xmlns:a16="http://schemas.microsoft.com/office/drawing/2014/main" id="{907741FC-B544-4A6E-B831-6789D042333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6408741"/>
            <a:ext cx="12191998" cy="449257"/>
          </a:xfrm>
          <a:prstGeom prst="rect">
            <a:avLst/>
          </a:prstGeom>
          <a:gradFill>
            <a:gsLst>
              <a:gs pos="34000">
                <a:schemeClr val="accent4">
                  <a:alpha val="73000"/>
                </a:schemeClr>
              </a:gs>
              <a:gs pos="100000">
                <a:schemeClr val="accent5">
                  <a:alpha val="89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3F0BE7ED-7814-4273-B18A-F26CC038038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8314"/>
            <a:ext cx="8115300" cy="449258"/>
          </a:xfrm>
          <a:prstGeom prst="rect">
            <a:avLst/>
          </a:prstGeom>
          <a:gradFill>
            <a:gsLst>
              <a:gs pos="22000">
                <a:schemeClr val="accent5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46044D70-D70E-4705-721A-04F37926B5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126" y="5181457"/>
            <a:ext cx="10269794" cy="661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1483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9" name="Rectangle 2068">
            <a:extLst>
              <a:ext uri="{FF2B5EF4-FFF2-40B4-BE49-F238E27FC236}">
                <a16:creationId xmlns:a16="http://schemas.microsoft.com/office/drawing/2014/main" id="{6ACA6F80-D392-A64E-3CF8-F28F1CCEE67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071" name="Rectangle 2070">
            <a:extLst>
              <a:ext uri="{FF2B5EF4-FFF2-40B4-BE49-F238E27FC236}">
                <a16:creationId xmlns:a16="http://schemas.microsoft.com/office/drawing/2014/main" id="{81097DDE-1D45-40A7-9F85-72AD9472A02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3" name="Rectangle 2072">
            <a:extLst>
              <a:ext uri="{FF2B5EF4-FFF2-40B4-BE49-F238E27FC236}">
                <a16:creationId xmlns:a16="http://schemas.microsoft.com/office/drawing/2014/main" id="{415C4FE2-5362-FB30-4461-17307BE10C9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9000">
                <a:schemeClr val="tx2">
                  <a:lumMod val="50000"/>
                  <a:lumOff val="50000"/>
                  <a:alpha val="3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5" name="Picture 7" descr="How to Make Obstacle Avoiding Car Using Arduino : 6 Steps (with Pictures) -  Instructables">
            <a:extLst>
              <a:ext uri="{FF2B5EF4-FFF2-40B4-BE49-F238E27FC236}">
                <a16:creationId xmlns:a16="http://schemas.microsoft.com/office/drawing/2014/main" id="{D0BC7B79-0E18-936B-5FB2-5437D5A6BC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4" r="5483"/>
          <a:stretch>
            <a:fillRect/>
          </a:stretch>
        </p:blipFill>
        <p:spPr bwMode="auto">
          <a:xfrm>
            <a:off x="614679" y="1901952"/>
            <a:ext cx="4801194" cy="4297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8D07791-3824-6632-9F4A-4A1560B2D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9" y="457200"/>
            <a:ext cx="4779572" cy="1298448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US" u="sng" dirty="0"/>
              <a:t>HOW IT WORKS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31111AA-C004-4F97-7A01-02316D00F7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0550" y="457201"/>
            <a:ext cx="5639127" cy="576072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0" tIns="0" rIns="0" bIns="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500" i="0" u="sng" strike="noStrike" cap="none" normalizeH="0" baseline="0" dirty="0">
                <a:ln>
                  <a:noFill/>
                </a:ln>
                <a:effectLst/>
              </a:rPr>
              <a:t>4. Head/Turret: </a:t>
            </a:r>
            <a:r>
              <a:rPr kumimoji="0" lang="en-US" altLang="en-US" sz="1500" i="0" strike="noStrike" cap="none" normalizeH="0" baseline="0" dirty="0">
                <a:ln>
                  <a:noFill/>
                </a:ln>
                <a:effectLst/>
              </a:rPr>
              <a:t>Servo Motor + HC-SR04</a:t>
            </a:r>
          </a:p>
          <a:p>
            <a:pPr marL="0" marR="0" lvl="0" indent="-2286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500" i="0" strike="noStrike" cap="none" normalizeH="0" baseline="0" dirty="0">
                <a:ln>
                  <a:noFill/>
                </a:ln>
                <a:effectLst/>
              </a:rPr>
              <a:t>Mount the ultrasonic sensor on the SG90 servo.</a:t>
            </a:r>
          </a:p>
          <a:p>
            <a:pPr marL="0" marR="0" lvl="0" indent="-2286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500" i="0" strike="noStrike" cap="none" normalizeH="0" baseline="0" dirty="0">
                <a:ln>
                  <a:noFill/>
                </a:ln>
                <a:effectLst/>
              </a:rPr>
              <a:t>This allows the sensor to rotate left/right, so it can scan surroundings.</a:t>
            </a:r>
          </a:p>
          <a:p>
            <a:pPr marL="0" marR="0" lvl="0" indent="-2286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500" i="0" u="sng" strike="noStrike" cap="none" normalizeH="0" baseline="0" dirty="0">
                <a:ln>
                  <a:noFill/>
                </a:ln>
                <a:effectLst/>
              </a:rPr>
              <a:t>5. Power: Battery</a:t>
            </a:r>
          </a:p>
          <a:p>
            <a:pPr marL="0" marR="0" lvl="0" indent="-2286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500" i="0" strike="noStrike" cap="none" normalizeH="0" baseline="0" dirty="0">
                <a:ln>
                  <a:noFill/>
                </a:ln>
                <a:effectLst/>
              </a:rPr>
              <a:t>Powers the motors and Arduino (via VIN pin or motor driver).</a:t>
            </a:r>
          </a:p>
          <a:p>
            <a:pPr marL="0" marR="0" lvl="0" indent="-2286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500" i="0" u="sng" strike="noStrike" cap="none" normalizeH="0" baseline="0" dirty="0">
                <a:ln>
                  <a:noFill/>
                </a:ln>
                <a:effectLst/>
              </a:rPr>
              <a:t>6. Breadboard &amp; Wires</a:t>
            </a:r>
          </a:p>
          <a:p>
            <a:pPr marL="0" marR="0" lvl="0" indent="-2286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500" i="0" strike="noStrike" cap="none" normalizeH="0" baseline="0">
                <a:ln>
                  <a:noFill/>
                </a:ln>
                <a:effectLst/>
              </a:rPr>
              <a:t>Connect components without soldering.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500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Logic: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Move forward by default.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Use IR sensor or ultrasonic to detect obstacle.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If obstacle detected:</a:t>
            </a:r>
          </a:p>
          <a:p>
            <a:pPr marL="742950" lvl="1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Stop.</a:t>
            </a:r>
          </a:p>
          <a:p>
            <a:pPr marL="742950" lvl="1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Use servo to rotate ultrasonic left and right.</a:t>
            </a:r>
          </a:p>
          <a:p>
            <a:pPr marL="742950" lvl="1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Measure distances.</a:t>
            </a:r>
          </a:p>
          <a:p>
            <a:pPr marL="742950" lvl="1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Turn toward the side with more space.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Repeat.</a:t>
            </a:r>
          </a:p>
          <a:p>
            <a:pPr marL="0" marR="0" lvl="0" indent="-2286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5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-2286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5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-22860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500" b="0" i="0" u="none" strike="noStrike" cap="none" normalizeH="0" baseline="0" dirty="0">
              <a:ln>
                <a:noFill/>
              </a:ln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259923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200">
            <a:extLst>
              <a:ext uri="{FF2B5EF4-FFF2-40B4-BE49-F238E27FC236}">
                <a16:creationId xmlns:a16="http://schemas.microsoft.com/office/drawing/2014/main" id="{85E219F5-4595-4216-B7AB-472D1F54B5DC}"/>
              </a:ext>
            </a:extLst>
          </p:cNvPr>
          <p:cNvGrpSpPr/>
          <p:nvPr/>
        </p:nvGrpSpPr>
        <p:grpSpPr>
          <a:xfrm>
            <a:off x="4448866" y="1781025"/>
            <a:ext cx="3294267" cy="3295950"/>
            <a:chOff x="0" y="112514"/>
            <a:chExt cx="771874" cy="772165"/>
          </a:xfrm>
          <a:solidFill>
            <a:schemeClr val="accent2">
              <a:lumMod val="40000"/>
              <a:lumOff val="60000"/>
            </a:schemeClr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A1D46630-1821-42A7-8768-3B3B3485B14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12514"/>
              <a:ext cx="771874" cy="772165"/>
            </a:xfrm>
            <a:custGeom>
              <a:avLst/>
              <a:gdLst>
                <a:gd name="T0" fmla="*/ 1045 w 2233"/>
                <a:gd name="T1" fmla="*/ 39 h 2233"/>
                <a:gd name="T2" fmla="*/ 1188 w 2233"/>
                <a:gd name="T3" fmla="*/ 39 h 2233"/>
                <a:gd name="T4" fmla="*/ 2193 w 2233"/>
                <a:gd name="T5" fmla="*/ 1044 h 2233"/>
                <a:gd name="T6" fmla="*/ 2193 w 2233"/>
                <a:gd name="T7" fmla="*/ 1188 h 2233"/>
                <a:gd name="T8" fmla="*/ 1188 w 2233"/>
                <a:gd name="T9" fmla="*/ 2193 h 2233"/>
                <a:gd name="T10" fmla="*/ 1045 w 2233"/>
                <a:gd name="T11" fmla="*/ 2193 h 2233"/>
                <a:gd name="T12" fmla="*/ 40 w 2233"/>
                <a:gd name="T13" fmla="*/ 1188 h 2233"/>
                <a:gd name="T14" fmla="*/ 40 w 2233"/>
                <a:gd name="T15" fmla="*/ 1044 h 2233"/>
                <a:gd name="T16" fmla="*/ 1045 w 2233"/>
                <a:gd name="T17" fmla="*/ 39 h 2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233" h="2233">
                  <a:moveTo>
                    <a:pt x="1045" y="39"/>
                  </a:moveTo>
                  <a:cubicBezTo>
                    <a:pt x="1084" y="0"/>
                    <a:pt x="1149" y="0"/>
                    <a:pt x="1188" y="39"/>
                  </a:cubicBezTo>
                  <a:cubicBezTo>
                    <a:pt x="2193" y="1044"/>
                    <a:pt x="2193" y="1044"/>
                    <a:pt x="2193" y="1044"/>
                  </a:cubicBezTo>
                  <a:cubicBezTo>
                    <a:pt x="2233" y="1084"/>
                    <a:pt x="2233" y="1148"/>
                    <a:pt x="2193" y="1188"/>
                  </a:cubicBezTo>
                  <a:cubicBezTo>
                    <a:pt x="1188" y="2193"/>
                    <a:pt x="1188" y="2193"/>
                    <a:pt x="1188" y="2193"/>
                  </a:cubicBezTo>
                  <a:cubicBezTo>
                    <a:pt x="1149" y="2233"/>
                    <a:pt x="1084" y="2233"/>
                    <a:pt x="1045" y="2193"/>
                  </a:cubicBezTo>
                  <a:cubicBezTo>
                    <a:pt x="40" y="1188"/>
                    <a:pt x="40" y="1188"/>
                    <a:pt x="40" y="1188"/>
                  </a:cubicBezTo>
                  <a:cubicBezTo>
                    <a:pt x="0" y="1148"/>
                    <a:pt x="0" y="1084"/>
                    <a:pt x="40" y="1044"/>
                  </a:cubicBezTo>
                  <a:cubicBezTo>
                    <a:pt x="1045" y="39"/>
                    <a:pt x="1045" y="39"/>
                    <a:pt x="1045" y="39"/>
                  </a:cubicBezTo>
                </a:path>
              </a:pathLst>
            </a:cu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Montserrat SemiBold" panose="00000700000000000000" pitchFamily="2" charset="0"/>
                <a:ea typeface="字魂59号-创粗黑" panose="00000500000000000000" pitchFamily="2" charset="-122"/>
                <a:cs typeface="+mn-ea"/>
                <a:sym typeface="字魂59号-创粗黑" panose="00000500000000000000" pitchFamily="2" charset="-122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C65CF689-83BE-4768-A949-57AB4674FC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342" y="267493"/>
              <a:ext cx="489290" cy="462206"/>
            </a:xfrm>
            <a:custGeom>
              <a:avLst/>
              <a:gdLst>
                <a:gd name="T0" fmla="*/ 618 w 1320"/>
                <a:gd name="T1" fmla="*/ 24 h 1320"/>
                <a:gd name="T2" fmla="*/ 703 w 1320"/>
                <a:gd name="T3" fmla="*/ 24 h 1320"/>
                <a:gd name="T4" fmla="*/ 1297 w 1320"/>
                <a:gd name="T5" fmla="*/ 618 h 1320"/>
                <a:gd name="T6" fmla="*/ 1297 w 1320"/>
                <a:gd name="T7" fmla="*/ 702 h 1320"/>
                <a:gd name="T8" fmla="*/ 703 w 1320"/>
                <a:gd name="T9" fmla="*/ 1296 h 1320"/>
                <a:gd name="T10" fmla="*/ 618 w 1320"/>
                <a:gd name="T11" fmla="*/ 1296 h 1320"/>
                <a:gd name="T12" fmla="*/ 24 w 1320"/>
                <a:gd name="T13" fmla="*/ 702 h 1320"/>
                <a:gd name="T14" fmla="*/ 24 w 1320"/>
                <a:gd name="T15" fmla="*/ 618 h 1320"/>
                <a:gd name="T16" fmla="*/ 618 w 1320"/>
                <a:gd name="T17" fmla="*/ 24 h 1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20" h="1320">
                  <a:moveTo>
                    <a:pt x="618" y="24"/>
                  </a:moveTo>
                  <a:cubicBezTo>
                    <a:pt x="641" y="0"/>
                    <a:pt x="679" y="0"/>
                    <a:pt x="703" y="24"/>
                  </a:cubicBezTo>
                  <a:cubicBezTo>
                    <a:pt x="1297" y="618"/>
                    <a:pt x="1297" y="618"/>
                    <a:pt x="1297" y="618"/>
                  </a:cubicBezTo>
                  <a:cubicBezTo>
                    <a:pt x="1320" y="641"/>
                    <a:pt x="1320" y="679"/>
                    <a:pt x="1297" y="702"/>
                  </a:cubicBezTo>
                  <a:cubicBezTo>
                    <a:pt x="703" y="1296"/>
                    <a:pt x="703" y="1296"/>
                    <a:pt x="703" y="1296"/>
                  </a:cubicBezTo>
                  <a:cubicBezTo>
                    <a:pt x="679" y="1320"/>
                    <a:pt x="641" y="1320"/>
                    <a:pt x="618" y="1296"/>
                  </a:cubicBezTo>
                  <a:cubicBezTo>
                    <a:pt x="24" y="702"/>
                    <a:pt x="24" y="702"/>
                    <a:pt x="24" y="702"/>
                  </a:cubicBezTo>
                  <a:cubicBezTo>
                    <a:pt x="0" y="679"/>
                    <a:pt x="0" y="641"/>
                    <a:pt x="24" y="618"/>
                  </a:cubicBezTo>
                  <a:lnTo>
                    <a:pt x="618" y="24"/>
                  </a:lnTo>
                  <a:close/>
                </a:path>
              </a:pathLst>
            </a:custGeom>
            <a:grpFill/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dirty="0">
                <a:latin typeface="Montserrat SemiBold" panose="00000700000000000000" pitchFamily="2" charset="0"/>
                <a:ea typeface="字魂59号-创粗黑" panose="00000500000000000000" pitchFamily="2" charset="-122"/>
                <a:cs typeface="+mn-ea"/>
                <a:sym typeface="字魂59号-创粗黑" panose="00000500000000000000" pitchFamily="2" charset="-122"/>
              </a:endParaRPr>
            </a:p>
          </p:txBody>
        </p:sp>
      </p:grp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5228533" y="3304527"/>
            <a:ext cx="2514600" cy="248942"/>
          </a:xfrm>
        </p:spPr>
        <p:txBody>
          <a:bodyPr>
            <a:normAutofit/>
          </a:bodyPr>
          <a:lstStyle/>
          <a:p>
            <a:r>
              <a:rPr lang="en-US" sz="1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CONCLUSION</a:t>
            </a:r>
            <a:endParaRPr lang="en-US" sz="1200" b="0" dirty="0"/>
          </a:p>
        </p:txBody>
      </p:sp>
      <p:sp>
        <p:nvSpPr>
          <p:cNvPr id="8" name="îŝḷîḓé-Freeform: Shape 8">
            <a:extLst>
              <a:ext uri="{FF2B5EF4-FFF2-40B4-BE49-F238E27FC236}">
                <a16:creationId xmlns:a16="http://schemas.microsoft.com/office/drawing/2014/main" id="{7AF4629F-FF35-DAF9-5689-4655978CF0DC}"/>
              </a:ext>
            </a:extLst>
          </p:cNvPr>
          <p:cNvSpPr/>
          <p:nvPr/>
        </p:nvSpPr>
        <p:spPr>
          <a:xfrm>
            <a:off x="6627319" y="1580564"/>
            <a:ext cx="4794517" cy="6944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886" y="0"/>
                </a:moveTo>
                <a:lnTo>
                  <a:pt x="2886" y="137"/>
                </a:lnTo>
                <a:lnTo>
                  <a:pt x="0" y="20001"/>
                </a:lnTo>
                <a:lnTo>
                  <a:pt x="375" y="21600"/>
                </a:lnTo>
                <a:lnTo>
                  <a:pt x="2906" y="16185"/>
                </a:lnTo>
                <a:lnTo>
                  <a:pt x="21600" y="16185"/>
                </a:lnTo>
                <a:lnTo>
                  <a:pt x="21600" y="0"/>
                </a:lnTo>
                <a:cubicBezTo>
                  <a:pt x="21600" y="0"/>
                  <a:pt x="2946" y="0"/>
                  <a:pt x="2906" y="0"/>
                </a:cubicBezTo>
                <a:cubicBezTo>
                  <a:pt x="2906" y="0"/>
                  <a:pt x="2886" y="0"/>
                  <a:pt x="2886" y="0"/>
                </a:cubicBezTo>
                <a:close/>
              </a:path>
            </a:pathLst>
          </a:custGeom>
          <a:ln w="9525">
            <a:solidFill>
              <a:schemeClr val="tx1">
                <a:lumMod val="75000"/>
                <a:lumOff val="25000"/>
              </a:schemeClr>
            </a:solidFill>
            <a:prstDash val="sysDot"/>
            <a:miter lim="400000"/>
          </a:ln>
        </p:spPr>
        <p:txBody>
          <a:bodyPr anchor="ctr"/>
          <a:lstStyle/>
          <a:p>
            <a:pPr algn="ctr"/>
            <a:endParaRPr>
              <a:latin typeface="Montserrat SemiBold" panose="00000700000000000000" pitchFamily="2" charset="0"/>
              <a:ea typeface="字魂59号-创粗黑" panose="00000500000000000000" pitchFamily="2" charset="-122"/>
              <a:cs typeface="+mn-ea"/>
              <a:sym typeface="字魂59号-创粗黑" panose="00000500000000000000" pitchFamily="2" charset="-12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D627A5-D83D-6012-C9D9-430B4211FD87}"/>
              </a:ext>
            </a:extLst>
          </p:cNvPr>
          <p:cNvSpPr txBox="1"/>
          <p:nvPr/>
        </p:nvSpPr>
        <p:spPr>
          <a:xfrm>
            <a:off x="6871887" y="1527010"/>
            <a:ext cx="489284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Navigation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 moves independently, avoiding obstacles using sensors.</a:t>
            </a:r>
          </a:p>
        </p:txBody>
      </p:sp>
      <p:sp>
        <p:nvSpPr>
          <p:cNvPr id="11" name="îŝḷîḓé-Freeform: Shape 10">
            <a:extLst>
              <a:ext uri="{FF2B5EF4-FFF2-40B4-BE49-F238E27FC236}">
                <a16:creationId xmlns:a16="http://schemas.microsoft.com/office/drawing/2014/main" id="{C2C0EB8B-8028-E0D0-235D-AEFEF7CBD955}"/>
              </a:ext>
            </a:extLst>
          </p:cNvPr>
          <p:cNvSpPr/>
          <p:nvPr/>
        </p:nvSpPr>
        <p:spPr>
          <a:xfrm>
            <a:off x="6828197" y="4398996"/>
            <a:ext cx="4936539" cy="12017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72" y="0"/>
                </a:moveTo>
                <a:lnTo>
                  <a:pt x="0" y="1599"/>
                </a:lnTo>
                <a:lnTo>
                  <a:pt x="2864" y="21463"/>
                </a:lnTo>
                <a:lnTo>
                  <a:pt x="2864" y="21591"/>
                </a:lnTo>
                <a:cubicBezTo>
                  <a:pt x="2864" y="21591"/>
                  <a:pt x="2883" y="21591"/>
                  <a:pt x="2883" y="21591"/>
                </a:cubicBezTo>
                <a:lnTo>
                  <a:pt x="2884" y="21600"/>
                </a:lnTo>
                <a:cubicBezTo>
                  <a:pt x="2884" y="21600"/>
                  <a:pt x="2884" y="21591"/>
                  <a:pt x="2884" y="21591"/>
                </a:cubicBezTo>
                <a:cubicBezTo>
                  <a:pt x="2924" y="21591"/>
                  <a:pt x="21600" y="21591"/>
                  <a:pt x="21600" y="21591"/>
                </a:cubicBezTo>
                <a:lnTo>
                  <a:pt x="21600" y="5411"/>
                </a:lnTo>
                <a:lnTo>
                  <a:pt x="2882" y="5411"/>
                </a:lnTo>
                <a:lnTo>
                  <a:pt x="372" y="0"/>
                </a:lnTo>
                <a:close/>
              </a:path>
            </a:pathLst>
          </a:custGeom>
          <a:ln w="9525">
            <a:solidFill>
              <a:schemeClr val="tx1">
                <a:lumMod val="75000"/>
                <a:lumOff val="25000"/>
              </a:schemeClr>
            </a:solidFill>
            <a:prstDash val="sysDot"/>
            <a:miter lim="400000"/>
          </a:ln>
        </p:spPr>
        <p:txBody>
          <a:bodyPr anchor="ctr"/>
          <a:lstStyle/>
          <a:p>
            <a:pPr algn="ctr"/>
            <a:endParaRPr>
              <a:latin typeface="Montserrat SemiBold" panose="00000700000000000000" pitchFamily="2" charset="0"/>
              <a:ea typeface="字魂59号-创粗黑" panose="00000500000000000000" pitchFamily="2" charset="-122"/>
              <a:cs typeface="+mn-ea"/>
              <a:sym typeface="字魂59号-创粗黑" panose="00000500000000000000" pitchFamily="2" charset="-12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F5A4A5-256C-AB4A-5392-513A2AE15A67}"/>
              </a:ext>
            </a:extLst>
          </p:cNvPr>
          <p:cNvSpPr txBox="1"/>
          <p:nvPr/>
        </p:nvSpPr>
        <p:spPr>
          <a:xfrm>
            <a:off x="7410732" y="4853117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Sensor </a:t>
            </a:r>
            <a:r>
              <a:rPr lang="en-US" sz="16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Integration </a:t>
            </a:r>
            <a:r>
              <a:rPr lang="en-US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Combined IR and ultrasonic sensors for short and long-range detection.</a:t>
            </a:r>
          </a:p>
        </p:txBody>
      </p:sp>
      <p:sp>
        <p:nvSpPr>
          <p:cNvPr id="13" name="îŝḷîḓé-Freeform: Shape 11">
            <a:extLst>
              <a:ext uri="{FF2B5EF4-FFF2-40B4-BE49-F238E27FC236}">
                <a16:creationId xmlns:a16="http://schemas.microsoft.com/office/drawing/2014/main" id="{3A7040B3-D498-6917-A19C-86F664758C0F}"/>
              </a:ext>
            </a:extLst>
          </p:cNvPr>
          <p:cNvSpPr/>
          <p:nvPr/>
        </p:nvSpPr>
        <p:spPr>
          <a:xfrm>
            <a:off x="427264" y="4284855"/>
            <a:ext cx="4801270" cy="12586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26" y="0"/>
                </a:moveTo>
                <a:lnTo>
                  <a:pt x="18706" y="5411"/>
                </a:lnTo>
                <a:lnTo>
                  <a:pt x="0" y="5411"/>
                </a:lnTo>
                <a:lnTo>
                  <a:pt x="0" y="21591"/>
                </a:lnTo>
                <a:cubicBezTo>
                  <a:pt x="0" y="21591"/>
                  <a:pt x="18668" y="21591"/>
                  <a:pt x="18704" y="21591"/>
                </a:cubicBezTo>
                <a:cubicBezTo>
                  <a:pt x="18704" y="21591"/>
                  <a:pt x="18704" y="21600"/>
                  <a:pt x="18704" y="21600"/>
                </a:cubicBezTo>
                <a:lnTo>
                  <a:pt x="18705" y="21591"/>
                </a:lnTo>
                <a:cubicBezTo>
                  <a:pt x="18705" y="21591"/>
                  <a:pt x="18722" y="21591"/>
                  <a:pt x="18722" y="21591"/>
                </a:cubicBezTo>
                <a:lnTo>
                  <a:pt x="18722" y="21477"/>
                </a:lnTo>
                <a:lnTo>
                  <a:pt x="21600" y="1599"/>
                </a:lnTo>
                <a:lnTo>
                  <a:pt x="21226" y="0"/>
                </a:lnTo>
                <a:close/>
              </a:path>
            </a:pathLst>
          </a:custGeom>
          <a:ln w="9525">
            <a:solidFill>
              <a:schemeClr val="tx1">
                <a:lumMod val="75000"/>
                <a:lumOff val="25000"/>
              </a:schemeClr>
            </a:solidFill>
            <a:prstDash val="sysDot"/>
            <a:miter lim="400000"/>
          </a:ln>
        </p:spPr>
        <p:txBody>
          <a:bodyPr anchor="ctr"/>
          <a:lstStyle/>
          <a:p>
            <a:pPr algn="ctr"/>
            <a:endParaRPr>
              <a:latin typeface="Montserrat SemiBold" panose="00000700000000000000" pitchFamily="2" charset="0"/>
              <a:ea typeface="字魂59号-创粗黑" panose="00000500000000000000" pitchFamily="2" charset="-122"/>
              <a:cs typeface="+mn-ea"/>
              <a:sym typeface="字魂59号-创粗黑" panose="00000500000000000000" pitchFamily="2" charset="-122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0031014-2A74-894D-9FFF-3FCA2FE20E90}"/>
              </a:ext>
            </a:extLst>
          </p:cNvPr>
          <p:cNvSpPr txBox="1"/>
          <p:nvPr/>
        </p:nvSpPr>
        <p:spPr>
          <a:xfrm>
            <a:off x="530679" y="4661476"/>
            <a:ext cx="443320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6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Dynamic Scanning: Servo motor enables side-to-side ultrasonic scanning for optimal path</a:t>
            </a:r>
            <a:endParaRPr lang="en-US" sz="16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3" name="îŝḷîḓé-Freeform: Shape 9">
            <a:extLst>
              <a:ext uri="{FF2B5EF4-FFF2-40B4-BE49-F238E27FC236}">
                <a16:creationId xmlns:a16="http://schemas.microsoft.com/office/drawing/2014/main" id="{57916A14-E783-2A2B-AF1A-44A3128F7FEA}"/>
              </a:ext>
            </a:extLst>
          </p:cNvPr>
          <p:cNvSpPr/>
          <p:nvPr/>
        </p:nvSpPr>
        <p:spPr>
          <a:xfrm>
            <a:off x="770163" y="1652497"/>
            <a:ext cx="4520500" cy="9681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16185"/>
                </a:lnTo>
                <a:lnTo>
                  <a:pt x="18710" y="16185"/>
                </a:lnTo>
                <a:lnTo>
                  <a:pt x="21227" y="21600"/>
                </a:lnTo>
                <a:lnTo>
                  <a:pt x="21600" y="20001"/>
                </a:lnTo>
                <a:lnTo>
                  <a:pt x="18727" y="123"/>
                </a:lnTo>
                <a:lnTo>
                  <a:pt x="18727" y="0"/>
                </a:lnTo>
                <a:cubicBezTo>
                  <a:pt x="18727" y="0"/>
                  <a:pt x="18710" y="0"/>
                  <a:pt x="18710" y="0"/>
                </a:cubicBezTo>
                <a:cubicBezTo>
                  <a:pt x="18674" y="0"/>
                  <a:pt x="0" y="0"/>
                  <a:pt x="0" y="0"/>
                </a:cubicBezTo>
                <a:close/>
              </a:path>
            </a:pathLst>
          </a:custGeom>
          <a:ln w="9525">
            <a:solidFill>
              <a:schemeClr val="tx1">
                <a:lumMod val="75000"/>
                <a:lumOff val="25000"/>
              </a:schemeClr>
            </a:solidFill>
            <a:prstDash val="sysDot"/>
            <a:miter lim="400000"/>
          </a:ln>
        </p:spPr>
        <p:txBody>
          <a:bodyPr anchor="ctr"/>
          <a:lstStyle/>
          <a:p>
            <a:pPr algn="ctr"/>
            <a:endParaRPr dirty="0">
              <a:latin typeface="Montserrat SemiBold" panose="00000700000000000000" pitchFamily="2" charset="0"/>
              <a:ea typeface="字魂59号-创粗黑" panose="00000500000000000000" pitchFamily="2" charset="-122"/>
              <a:cs typeface="+mn-ea"/>
              <a:sym typeface="字魂59号-创粗黑" panose="00000500000000000000" pitchFamily="2" charset="-122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D90731A-8B84-7058-4C60-EA13B8179B86}"/>
              </a:ext>
            </a:extLst>
          </p:cNvPr>
          <p:cNvSpPr txBox="1"/>
          <p:nvPr/>
        </p:nvSpPr>
        <p:spPr>
          <a:xfrm>
            <a:off x="790296" y="1611549"/>
            <a:ext cx="383069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Motor Control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L298N driver manages motor direction and speed effectively</a:t>
            </a:r>
          </a:p>
        </p:txBody>
      </p:sp>
    </p:spTree>
    <p:extLst>
      <p:ext uri="{BB962C8B-B14F-4D97-AF65-F5344CB8AC3E}">
        <p14:creationId xmlns:p14="http://schemas.microsoft.com/office/powerpoint/2010/main" val="2377006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4">
            <a:extLst>
              <a:ext uri="{FF2B5EF4-FFF2-40B4-BE49-F238E27FC236}">
                <a16:creationId xmlns:a16="http://schemas.microsoft.com/office/drawing/2014/main" id="{58E242B7-5C54-4A7E-AC24-C41D69A2F5FD}"/>
              </a:ext>
            </a:extLst>
          </p:cNvPr>
          <p:cNvSpPr>
            <a:spLocks/>
          </p:cNvSpPr>
          <p:nvPr/>
        </p:nvSpPr>
        <p:spPr bwMode="auto">
          <a:xfrm>
            <a:off x="470583" y="2645553"/>
            <a:ext cx="2526416" cy="2526416"/>
          </a:xfrm>
          <a:custGeom>
            <a:avLst/>
            <a:gdLst>
              <a:gd name="T0" fmla="*/ 618 w 1320"/>
              <a:gd name="T1" fmla="*/ 24 h 1320"/>
              <a:gd name="T2" fmla="*/ 703 w 1320"/>
              <a:gd name="T3" fmla="*/ 24 h 1320"/>
              <a:gd name="T4" fmla="*/ 1297 w 1320"/>
              <a:gd name="T5" fmla="*/ 618 h 1320"/>
              <a:gd name="T6" fmla="*/ 1297 w 1320"/>
              <a:gd name="T7" fmla="*/ 702 h 1320"/>
              <a:gd name="T8" fmla="*/ 703 w 1320"/>
              <a:gd name="T9" fmla="*/ 1296 h 1320"/>
              <a:gd name="T10" fmla="*/ 618 w 1320"/>
              <a:gd name="T11" fmla="*/ 1296 h 1320"/>
              <a:gd name="T12" fmla="*/ 24 w 1320"/>
              <a:gd name="T13" fmla="*/ 702 h 1320"/>
              <a:gd name="T14" fmla="*/ 24 w 1320"/>
              <a:gd name="T15" fmla="*/ 618 h 1320"/>
              <a:gd name="T16" fmla="*/ 618 w 1320"/>
              <a:gd name="T17" fmla="*/ 24 h 1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20" h="1320">
                <a:moveTo>
                  <a:pt x="618" y="24"/>
                </a:moveTo>
                <a:cubicBezTo>
                  <a:pt x="641" y="0"/>
                  <a:pt x="679" y="0"/>
                  <a:pt x="703" y="24"/>
                </a:cubicBezTo>
                <a:cubicBezTo>
                  <a:pt x="1297" y="618"/>
                  <a:pt x="1297" y="618"/>
                  <a:pt x="1297" y="618"/>
                </a:cubicBezTo>
                <a:cubicBezTo>
                  <a:pt x="1320" y="641"/>
                  <a:pt x="1320" y="679"/>
                  <a:pt x="1297" y="702"/>
                </a:cubicBezTo>
                <a:cubicBezTo>
                  <a:pt x="703" y="1296"/>
                  <a:pt x="703" y="1296"/>
                  <a:pt x="703" y="1296"/>
                </a:cubicBezTo>
                <a:cubicBezTo>
                  <a:pt x="679" y="1320"/>
                  <a:pt x="641" y="1320"/>
                  <a:pt x="618" y="1296"/>
                </a:cubicBezTo>
                <a:cubicBezTo>
                  <a:pt x="24" y="702"/>
                  <a:pt x="24" y="702"/>
                  <a:pt x="24" y="702"/>
                </a:cubicBezTo>
                <a:cubicBezTo>
                  <a:pt x="0" y="679"/>
                  <a:pt x="0" y="641"/>
                  <a:pt x="24" y="618"/>
                </a:cubicBezTo>
                <a:lnTo>
                  <a:pt x="618" y="24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76200">
            <a:solidFill>
              <a:srgbClr val="0B3EA2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Montserrat SemiBold" panose="00000700000000000000" pitchFamily="2" charset="0"/>
              <a:ea typeface="字魂59号-创粗黑" panose="00000500000000000000" pitchFamily="2" charset="-122"/>
              <a:cs typeface="+mn-ea"/>
              <a:sym typeface="字魂59号-创粗黑" panose="00000500000000000000" pitchFamily="2" charset="-122"/>
            </a:endParaRPr>
          </a:p>
        </p:txBody>
      </p:sp>
      <p:sp>
        <p:nvSpPr>
          <p:cNvPr id="4" name="Freeform 14">
            <a:extLst>
              <a:ext uri="{FF2B5EF4-FFF2-40B4-BE49-F238E27FC236}">
                <a16:creationId xmlns:a16="http://schemas.microsoft.com/office/drawing/2014/main" id="{1EBEAAF1-5C54-4E8A-9622-51CE82A198CA}"/>
              </a:ext>
            </a:extLst>
          </p:cNvPr>
          <p:cNvSpPr>
            <a:spLocks/>
          </p:cNvSpPr>
          <p:nvPr/>
        </p:nvSpPr>
        <p:spPr bwMode="auto">
          <a:xfrm>
            <a:off x="1128475" y="2462253"/>
            <a:ext cx="3164460" cy="3164460"/>
          </a:xfrm>
          <a:custGeom>
            <a:avLst/>
            <a:gdLst>
              <a:gd name="T0" fmla="*/ 618 w 1320"/>
              <a:gd name="T1" fmla="*/ 24 h 1320"/>
              <a:gd name="T2" fmla="*/ 703 w 1320"/>
              <a:gd name="T3" fmla="*/ 24 h 1320"/>
              <a:gd name="T4" fmla="*/ 1297 w 1320"/>
              <a:gd name="T5" fmla="*/ 618 h 1320"/>
              <a:gd name="T6" fmla="*/ 1297 w 1320"/>
              <a:gd name="T7" fmla="*/ 702 h 1320"/>
              <a:gd name="T8" fmla="*/ 703 w 1320"/>
              <a:gd name="T9" fmla="*/ 1296 h 1320"/>
              <a:gd name="T10" fmla="*/ 618 w 1320"/>
              <a:gd name="T11" fmla="*/ 1296 h 1320"/>
              <a:gd name="T12" fmla="*/ 24 w 1320"/>
              <a:gd name="T13" fmla="*/ 702 h 1320"/>
              <a:gd name="T14" fmla="*/ 24 w 1320"/>
              <a:gd name="T15" fmla="*/ 618 h 1320"/>
              <a:gd name="T16" fmla="*/ 618 w 1320"/>
              <a:gd name="T17" fmla="*/ 24 h 1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20" h="1320">
                <a:moveTo>
                  <a:pt x="618" y="24"/>
                </a:moveTo>
                <a:cubicBezTo>
                  <a:pt x="641" y="0"/>
                  <a:pt x="679" y="0"/>
                  <a:pt x="703" y="24"/>
                </a:cubicBezTo>
                <a:cubicBezTo>
                  <a:pt x="1297" y="618"/>
                  <a:pt x="1297" y="618"/>
                  <a:pt x="1297" y="618"/>
                </a:cubicBezTo>
                <a:cubicBezTo>
                  <a:pt x="1320" y="641"/>
                  <a:pt x="1320" y="679"/>
                  <a:pt x="1297" y="702"/>
                </a:cubicBezTo>
                <a:cubicBezTo>
                  <a:pt x="703" y="1296"/>
                  <a:pt x="703" y="1296"/>
                  <a:pt x="703" y="1296"/>
                </a:cubicBezTo>
                <a:cubicBezTo>
                  <a:pt x="679" y="1320"/>
                  <a:pt x="641" y="1320"/>
                  <a:pt x="618" y="1296"/>
                </a:cubicBezTo>
                <a:cubicBezTo>
                  <a:pt x="24" y="702"/>
                  <a:pt x="24" y="702"/>
                  <a:pt x="24" y="702"/>
                </a:cubicBezTo>
                <a:cubicBezTo>
                  <a:pt x="0" y="679"/>
                  <a:pt x="0" y="641"/>
                  <a:pt x="24" y="618"/>
                </a:cubicBezTo>
                <a:lnTo>
                  <a:pt x="618" y="24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Montserrat SemiBold" panose="00000700000000000000" pitchFamily="2" charset="0"/>
              <a:ea typeface="字魂59号-创粗黑" panose="00000500000000000000" pitchFamily="2" charset="-122"/>
              <a:cs typeface="+mn-ea"/>
              <a:sym typeface="字魂59号-创粗黑" panose="00000500000000000000" pitchFamily="2" charset="-122"/>
            </a:endParaRPr>
          </a:p>
        </p:txBody>
      </p:sp>
      <p:sp>
        <p:nvSpPr>
          <p:cNvPr id="5" name="Freeform 14">
            <a:extLst>
              <a:ext uri="{FF2B5EF4-FFF2-40B4-BE49-F238E27FC236}">
                <a16:creationId xmlns:a16="http://schemas.microsoft.com/office/drawing/2014/main" id="{F41BF298-C60F-4548-85E4-1C36EC3D319E}"/>
              </a:ext>
            </a:extLst>
          </p:cNvPr>
          <p:cNvSpPr>
            <a:spLocks/>
          </p:cNvSpPr>
          <p:nvPr/>
        </p:nvSpPr>
        <p:spPr bwMode="auto">
          <a:xfrm>
            <a:off x="5733134" y="-73975"/>
            <a:ext cx="3745432" cy="3416692"/>
          </a:xfrm>
          <a:custGeom>
            <a:avLst/>
            <a:gdLst>
              <a:gd name="T0" fmla="*/ 618 w 1320"/>
              <a:gd name="T1" fmla="*/ 24 h 1320"/>
              <a:gd name="T2" fmla="*/ 703 w 1320"/>
              <a:gd name="T3" fmla="*/ 24 h 1320"/>
              <a:gd name="T4" fmla="*/ 1297 w 1320"/>
              <a:gd name="T5" fmla="*/ 618 h 1320"/>
              <a:gd name="T6" fmla="*/ 1297 w 1320"/>
              <a:gd name="T7" fmla="*/ 702 h 1320"/>
              <a:gd name="T8" fmla="*/ 703 w 1320"/>
              <a:gd name="T9" fmla="*/ 1296 h 1320"/>
              <a:gd name="T10" fmla="*/ 618 w 1320"/>
              <a:gd name="T11" fmla="*/ 1296 h 1320"/>
              <a:gd name="T12" fmla="*/ 24 w 1320"/>
              <a:gd name="T13" fmla="*/ 702 h 1320"/>
              <a:gd name="T14" fmla="*/ 24 w 1320"/>
              <a:gd name="T15" fmla="*/ 618 h 1320"/>
              <a:gd name="T16" fmla="*/ 618 w 1320"/>
              <a:gd name="T17" fmla="*/ 24 h 1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20" h="1320">
                <a:moveTo>
                  <a:pt x="618" y="24"/>
                </a:moveTo>
                <a:cubicBezTo>
                  <a:pt x="641" y="0"/>
                  <a:pt x="679" y="0"/>
                  <a:pt x="703" y="24"/>
                </a:cubicBezTo>
                <a:cubicBezTo>
                  <a:pt x="1297" y="618"/>
                  <a:pt x="1297" y="618"/>
                  <a:pt x="1297" y="618"/>
                </a:cubicBezTo>
                <a:cubicBezTo>
                  <a:pt x="1320" y="641"/>
                  <a:pt x="1320" y="679"/>
                  <a:pt x="1297" y="702"/>
                </a:cubicBezTo>
                <a:cubicBezTo>
                  <a:pt x="703" y="1296"/>
                  <a:pt x="703" y="1296"/>
                  <a:pt x="703" y="1296"/>
                </a:cubicBezTo>
                <a:cubicBezTo>
                  <a:pt x="679" y="1320"/>
                  <a:pt x="641" y="1320"/>
                  <a:pt x="618" y="1296"/>
                </a:cubicBezTo>
                <a:cubicBezTo>
                  <a:pt x="24" y="702"/>
                  <a:pt x="24" y="702"/>
                  <a:pt x="24" y="702"/>
                </a:cubicBezTo>
                <a:cubicBezTo>
                  <a:pt x="0" y="679"/>
                  <a:pt x="0" y="641"/>
                  <a:pt x="24" y="618"/>
                </a:cubicBezTo>
                <a:lnTo>
                  <a:pt x="618" y="24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Montserrat SemiBold" panose="00000700000000000000" pitchFamily="2" charset="0"/>
              <a:ea typeface="字魂59号-创粗黑" panose="00000500000000000000" pitchFamily="2" charset="-122"/>
              <a:cs typeface="+mn-ea"/>
              <a:sym typeface="字魂59号-创粗黑" panose="00000500000000000000" pitchFamily="2" charset="-122"/>
            </a:endParaRPr>
          </a:p>
        </p:txBody>
      </p:sp>
      <p:grpSp>
        <p:nvGrpSpPr>
          <p:cNvPr id="6" name="组合 1">
            <a:extLst>
              <a:ext uri="{FF2B5EF4-FFF2-40B4-BE49-F238E27FC236}">
                <a16:creationId xmlns:a16="http://schemas.microsoft.com/office/drawing/2014/main" id="{FDE7BC24-C0F3-42F2-BF71-5619507BFFF3}"/>
              </a:ext>
            </a:extLst>
          </p:cNvPr>
          <p:cNvGrpSpPr/>
          <p:nvPr/>
        </p:nvGrpSpPr>
        <p:grpSpPr>
          <a:xfrm>
            <a:off x="1128475" y="3385893"/>
            <a:ext cx="5549991" cy="1532903"/>
            <a:chOff x="2137839" y="1300342"/>
            <a:chExt cx="5549991" cy="1532903"/>
          </a:xfrm>
          <a:solidFill>
            <a:schemeClr val="accent1">
              <a:lumMod val="40000"/>
              <a:lumOff val="60000"/>
            </a:schemeClr>
          </a:solidFill>
        </p:grpSpPr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55EC4C5B-5F50-4717-89D6-B725B59B8B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7839" y="1300342"/>
              <a:ext cx="5549991" cy="1231106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marL="0" lvl="0" algn="ctr"/>
              <a:r>
                <a:rPr lang="en-US" altLang="zh-CN" sz="8000" b="1" i="0" u="none" dirty="0">
                  <a:solidFill>
                    <a:srgbClr val="0B3EA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THANKS</a:t>
              </a:r>
              <a:endParaRPr lang="en-US" sz="8000" b="1" i="0" u="none" dirty="0">
                <a:solidFill>
                  <a:srgbClr val="0B3EA2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6F0BDF8-DD37-4818-A5D1-0854681A53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5829" y="2617801"/>
              <a:ext cx="4534011" cy="215444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marL="0" lvl="0" algn="ctr"/>
              <a:r>
                <a:rPr lang="en-US" sz="1400" b="1" i="0" u="none" dirty="0">
                  <a:solidFill>
                    <a:srgbClr val="262626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DO YOU HAVE ANY QUESTIONS</a:t>
              </a:r>
            </a:p>
          </p:txBody>
        </p:sp>
      </p:grpSp>
      <p:sp>
        <p:nvSpPr>
          <p:cNvPr id="9" name="Freeform 14">
            <a:extLst>
              <a:ext uri="{FF2B5EF4-FFF2-40B4-BE49-F238E27FC236}">
                <a16:creationId xmlns:a16="http://schemas.microsoft.com/office/drawing/2014/main" id="{6B3CE461-D61E-4A52-ABE0-65C57910B443}"/>
              </a:ext>
            </a:extLst>
          </p:cNvPr>
          <p:cNvSpPr>
            <a:spLocks/>
          </p:cNvSpPr>
          <p:nvPr/>
        </p:nvSpPr>
        <p:spPr bwMode="auto">
          <a:xfrm>
            <a:off x="7295235" y="3143813"/>
            <a:ext cx="2269466" cy="2269466"/>
          </a:xfrm>
          <a:custGeom>
            <a:avLst/>
            <a:gdLst>
              <a:gd name="T0" fmla="*/ 618 w 1320"/>
              <a:gd name="T1" fmla="*/ 24 h 1320"/>
              <a:gd name="T2" fmla="*/ 703 w 1320"/>
              <a:gd name="T3" fmla="*/ 24 h 1320"/>
              <a:gd name="T4" fmla="*/ 1297 w 1320"/>
              <a:gd name="T5" fmla="*/ 618 h 1320"/>
              <a:gd name="T6" fmla="*/ 1297 w 1320"/>
              <a:gd name="T7" fmla="*/ 702 h 1320"/>
              <a:gd name="T8" fmla="*/ 703 w 1320"/>
              <a:gd name="T9" fmla="*/ 1296 h 1320"/>
              <a:gd name="T10" fmla="*/ 618 w 1320"/>
              <a:gd name="T11" fmla="*/ 1296 h 1320"/>
              <a:gd name="T12" fmla="*/ 24 w 1320"/>
              <a:gd name="T13" fmla="*/ 702 h 1320"/>
              <a:gd name="T14" fmla="*/ 24 w 1320"/>
              <a:gd name="T15" fmla="*/ 618 h 1320"/>
              <a:gd name="T16" fmla="*/ 618 w 1320"/>
              <a:gd name="T17" fmla="*/ 24 h 1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20" h="1320">
                <a:moveTo>
                  <a:pt x="618" y="24"/>
                </a:moveTo>
                <a:cubicBezTo>
                  <a:pt x="641" y="0"/>
                  <a:pt x="679" y="0"/>
                  <a:pt x="703" y="24"/>
                </a:cubicBezTo>
                <a:cubicBezTo>
                  <a:pt x="1297" y="618"/>
                  <a:pt x="1297" y="618"/>
                  <a:pt x="1297" y="618"/>
                </a:cubicBezTo>
                <a:cubicBezTo>
                  <a:pt x="1320" y="641"/>
                  <a:pt x="1320" y="679"/>
                  <a:pt x="1297" y="702"/>
                </a:cubicBezTo>
                <a:cubicBezTo>
                  <a:pt x="703" y="1296"/>
                  <a:pt x="703" y="1296"/>
                  <a:pt x="703" y="1296"/>
                </a:cubicBezTo>
                <a:cubicBezTo>
                  <a:pt x="679" y="1320"/>
                  <a:pt x="641" y="1320"/>
                  <a:pt x="618" y="1296"/>
                </a:cubicBezTo>
                <a:cubicBezTo>
                  <a:pt x="24" y="702"/>
                  <a:pt x="24" y="702"/>
                  <a:pt x="24" y="702"/>
                </a:cubicBezTo>
                <a:cubicBezTo>
                  <a:pt x="0" y="679"/>
                  <a:pt x="0" y="641"/>
                  <a:pt x="24" y="618"/>
                </a:cubicBezTo>
                <a:lnTo>
                  <a:pt x="618" y="24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Montserrat SemiBold" panose="00000700000000000000" pitchFamily="2" charset="0"/>
              <a:ea typeface="字魂59号-创粗黑" panose="00000500000000000000" pitchFamily="2" charset="-122"/>
              <a:cs typeface="+mn-ea"/>
              <a:sym typeface="字魂59号-创粗黑" panose="00000500000000000000" pitchFamily="2" charset="-122"/>
            </a:endParaRPr>
          </a:p>
        </p:txBody>
      </p:sp>
      <p:sp>
        <p:nvSpPr>
          <p:cNvPr id="10" name="Freeform 14">
            <a:extLst>
              <a:ext uri="{FF2B5EF4-FFF2-40B4-BE49-F238E27FC236}">
                <a16:creationId xmlns:a16="http://schemas.microsoft.com/office/drawing/2014/main" id="{D32BCD48-9DD4-4E36-A80D-725607AC7A4E}"/>
              </a:ext>
            </a:extLst>
          </p:cNvPr>
          <p:cNvSpPr>
            <a:spLocks/>
          </p:cNvSpPr>
          <p:nvPr/>
        </p:nvSpPr>
        <p:spPr bwMode="auto">
          <a:xfrm>
            <a:off x="8799706" y="1739420"/>
            <a:ext cx="2269466" cy="2269466"/>
          </a:xfrm>
          <a:custGeom>
            <a:avLst/>
            <a:gdLst>
              <a:gd name="T0" fmla="*/ 618 w 1320"/>
              <a:gd name="T1" fmla="*/ 24 h 1320"/>
              <a:gd name="T2" fmla="*/ 703 w 1320"/>
              <a:gd name="T3" fmla="*/ 24 h 1320"/>
              <a:gd name="T4" fmla="*/ 1297 w 1320"/>
              <a:gd name="T5" fmla="*/ 618 h 1320"/>
              <a:gd name="T6" fmla="*/ 1297 w 1320"/>
              <a:gd name="T7" fmla="*/ 702 h 1320"/>
              <a:gd name="T8" fmla="*/ 703 w 1320"/>
              <a:gd name="T9" fmla="*/ 1296 h 1320"/>
              <a:gd name="T10" fmla="*/ 618 w 1320"/>
              <a:gd name="T11" fmla="*/ 1296 h 1320"/>
              <a:gd name="T12" fmla="*/ 24 w 1320"/>
              <a:gd name="T13" fmla="*/ 702 h 1320"/>
              <a:gd name="T14" fmla="*/ 24 w 1320"/>
              <a:gd name="T15" fmla="*/ 618 h 1320"/>
              <a:gd name="T16" fmla="*/ 618 w 1320"/>
              <a:gd name="T17" fmla="*/ 24 h 1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20" h="1320">
                <a:moveTo>
                  <a:pt x="618" y="24"/>
                </a:moveTo>
                <a:cubicBezTo>
                  <a:pt x="641" y="0"/>
                  <a:pt x="679" y="0"/>
                  <a:pt x="703" y="24"/>
                </a:cubicBezTo>
                <a:cubicBezTo>
                  <a:pt x="1297" y="618"/>
                  <a:pt x="1297" y="618"/>
                  <a:pt x="1297" y="618"/>
                </a:cubicBezTo>
                <a:cubicBezTo>
                  <a:pt x="1320" y="641"/>
                  <a:pt x="1320" y="679"/>
                  <a:pt x="1297" y="702"/>
                </a:cubicBezTo>
                <a:cubicBezTo>
                  <a:pt x="703" y="1296"/>
                  <a:pt x="703" y="1296"/>
                  <a:pt x="703" y="1296"/>
                </a:cubicBezTo>
                <a:cubicBezTo>
                  <a:pt x="679" y="1320"/>
                  <a:pt x="641" y="1320"/>
                  <a:pt x="618" y="1296"/>
                </a:cubicBezTo>
                <a:cubicBezTo>
                  <a:pt x="24" y="702"/>
                  <a:pt x="24" y="702"/>
                  <a:pt x="24" y="702"/>
                </a:cubicBezTo>
                <a:cubicBezTo>
                  <a:pt x="0" y="679"/>
                  <a:pt x="0" y="641"/>
                  <a:pt x="24" y="618"/>
                </a:cubicBezTo>
                <a:lnTo>
                  <a:pt x="618" y="24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Montserrat SemiBold" panose="00000700000000000000" pitchFamily="2" charset="0"/>
              <a:ea typeface="字魂59号-创粗黑" panose="00000500000000000000" pitchFamily="2" charset="-122"/>
              <a:cs typeface="+mn-ea"/>
              <a:sym typeface="字魂59号-创粗黑" panose="00000500000000000000" pitchFamily="2" charset="-122"/>
            </a:endParaRPr>
          </a:p>
        </p:txBody>
      </p:sp>
      <p:sp>
        <p:nvSpPr>
          <p:cNvPr id="11" name="Freeform 14">
            <a:extLst>
              <a:ext uri="{FF2B5EF4-FFF2-40B4-BE49-F238E27FC236}">
                <a16:creationId xmlns:a16="http://schemas.microsoft.com/office/drawing/2014/main" id="{A1401077-3E2B-4BD0-A324-016AE7E1885C}"/>
              </a:ext>
            </a:extLst>
          </p:cNvPr>
          <p:cNvSpPr>
            <a:spLocks/>
          </p:cNvSpPr>
          <p:nvPr/>
        </p:nvSpPr>
        <p:spPr bwMode="auto">
          <a:xfrm>
            <a:off x="8060230" y="5579453"/>
            <a:ext cx="739476" cy="739476"/>
          </a:xfrm>
          <a:custGeom>
            <a:avLst/>
            <a:gdLst>
              <a:gd name="T0" fmla="*/ 618 w 1320"/>
              <a:gd name="T1" fmla="*/ 24 h 1320"/>
              <a:gd name="T2" fmla="*/ 703 w 1320"/>
              <a:gd name="T3" fmla="*/ 24 h 1320"/>
              <a:gd name="T4" fmla="*/ 1297 w 1320"/>
              <a:gd name="T5" fmla="*/ 618 h 1320"/>
              <a:gd name="T6" fmla="*/ 1297 w 1320"/>
              <a:gd name="T7" fmla="*/ 702 h 1320"/>
              <a:gd name="T8" fmla="*/ 703 w 1320"/>
              <a:gd name="T9" fmla="*/ 1296 h 1320"/>
              <a:gd name="T10" fmla="*/ 618 w 1320"/>
              <a:gd name="T11" fmla="*/ 1296 h 1320"/>
              <a:gd name="T12" fmla="*/ 24 w 1320"/>
              <a:gd name="T13" fmla="*/ 702 h 1320"/>
              <a:gd name="T14" fmla="*/ 24 w 1320"/>
              <a:gd name="T15" fmla="*/ 618 h 1320"/>
              <a:gd name="T16" fmla="*/ 618 w 1320"/>
              <a:gd name="T17" fmla="*/ 24 h 13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20" h="1320">
                <a:moveTo>
                  <a:pt x="618" y="24"/>
                </a:moveTo>
                <a:cubicBezTo>
                  <a:pt x="641" y="0"/>
                  <a:pt x="679" y="0"/>
                  <a:pt x="703" y="24"/>
                </a:cubicBezTo>
                <a:cubicBezTo>
                  <a:pt x="1297" y="618"/>
                  <a:pt x="1297" y="618"/>
                  <a:pt x="1297" y="618"/>
                </a:cubicBezTo>
                <a:cubicBezTo>
                  <a:pt x="1320" y="641"/>
                  <a:pt x="1320" y="679"/>
                  <a:pt x="1297" y="702"/>
                </a:cubicBezTo>
                <a:cubicBezTo>
                  <a:pt x="703" y="1296"/>
                  <a:pt x="703" y="1296"/>
                  <a:pt x="703" y="1296"/>
                </a:cubicBezTo>
                <a:cubicBezTo>
                  <a:pt x="679" y="1320"/>
                  <a:pt x="641" y="1320"/>
                  <a:pt x="618" y="1296"/>
                </a:cubicBezTo>
                <a:cubicBezTo>
                  <a:pt x="24" y="702"/>
                  <a:pt x="24" y="702"/>
                  <a:pt x="24" y="702"/>
                </a:cubicBezTo>
                <a:cubicBezTo>
                  <a:pt x="0" y="679"/>
                  <a:pt x="0" y="641"/>
                  <a:pt x="24" y="618"/>
                </a:cubicBezTo>
                <a:lnTo>
                  <a:pt x="618" y="24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Montserrat SemiBold" panose="00000700000000000000" pitchFamily="2" charset="0"/>
              <a:ea typeface="字魂59号-创粗黑" panose="00000500000000000000" pitchFamily="2" charset="-122"/>
              <a:cs typeface="+mn-ea"/>
              <a:sym typeface="字魂59号-创粗黑" panose="00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72340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theme/theme1.xml><?xml version="1.0" encoding="utf-8"?>
<a:theme xmlns:a="http://schemas.openxmlformats.org/drawingml/2006/main" name="GradientRiseVTI">
  <a:themeElements>
    <a:clrScheme name="GradientRise">
      <a:dk1>
        <a:sysClr val="windowText" lastClr="000000"/>
      </a:dk1>
      <a:lt1>
        <a:srgbClr val="FFFFFF"/>
      </a:lt1>
      <a:dk2>
        <a:srgbClr val="3C0F3A"/>
      </a:dk2>
      <a:lt2>
        <a:srgbClr val="F1F2F2"/>
      </a:lt2>
      <a:accent1>
        <a:srgbClr val="A6025C"/>
      </a:accent1>
      <a:accent2>
        <a:srgbClr val="92248E"/>
      </a:accent2>
      <a:accent3>
        <a:srgbClr val="DE95C4"/>
      </a:accent3>
      <a:accent4>
        <a:srgbClr val="FE4A00"/>
      </a:accent4>
      <a:accent5>
        <a:srgbClr val="DA002F"/>
      </a:accent5>
      <a:accent6>
        <a:srgbClr val="FF907A"/>
      </a:accent6>
      <a:hlink>
        <a:srgbClr val="CA71E4"/>
      </a:hlink>
      <a:folHlink>
        <a:srgbClr val="E45E49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RiseVTI" id="{C2FC082F-B444-4222-AF20-78444CCB5722}" vid="{39F213E4-0CBC-40CB-B3F6-8C5562B6B99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247</TotalTime>
  <Words>673</Words>
  <Application>Microsoft Office PowerPoint</Application>
  <PresentationFormat>Widescreen</PresentationFormat>
  <Paragraphs>71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2" baseType="lpstr">
      <vt:lpstr>微软雅黑</vt:lpstr>
      <vt:lpstr>Aptos</vt:lpstr>
      <vt:lpstr>Aptos Black</vt:lpstr>
      <vt:lpstr>Arial</vt:lpstr>
      <vt:lpstr>Avenir Next LT Pro</vt:lpstr>
      <vt:lpstr>Montserrat SemiBold</vt:lpstr>
      <vt:lpstr>Neue Haas Grotesk Text Pro</vt:lpstr>
      <vt:lpstr>Segoe UI Historic</vt:lpstr>
      <vt:lpstr>Tahoma</vt:lpstr>
      <vt:lpstr>Times New Roman</vt:lpstr>
      <vt:lpstr>字魂59号-创粗黑</vt:lpstr>
      <vt:lpstr>GradientRiseVTI</vt:lpstr>
      <vt:lpstr> Digital Logic and circuit lab Spring 24-2025 Section: D Group: 04 Course Code: EEE 3102   Supervised By S M TANVIR HASSAN SHOVON    </vt:lpstr>
      <vt:lpstr>   </vt:lpstr>
      <vt:lpstr>Introduction</vt:lpstr>
      <vt:lpstr>Components</vt:lpstr>
      <vt:lpstr>PowerPoint Presentation</vt:lpstr>
      <vt:lpstr>CIRCUIT DESIGN</vt:lpstr>
      <vt:lpstr>How it works</vt:lpstr>
      <vt:lpstr>HOW IT WORKS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Digital Logic and circuit lab Spring 24-2025 Section: D Group: 04 Course Code: EEE 3102   Supervised By S M TANVIR HASSAN SHOVON    </dc:title>
  <dc:creator>ARGHA GHOSH</dc:creator>
  <cp:lastModifiedBy>ASUS</cp:lastModifiedBy>
  <cp:revision>11</cp:revision>
  <dcterms:created xsi:type="dcterms:W3CDTF">2025-05-24T08:23:20Z</dcterms:created>
  <dcterms:modified xsi:type="dcterms:W3CDTF">2025-05-27T17:43:22Z</dcterms:modified>
</cp:coreProperties>
</file>